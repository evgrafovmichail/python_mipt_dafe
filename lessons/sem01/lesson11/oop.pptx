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"/>
  </p:notesMasterIdLst>
  <p:sldIdLst>
    <p:sldId id="306" r:id="rId3"/>
    <p:sldId id="486" r:id="rId4"/>
    <p:sldId id="561" r:id="rId6"/>
    <p:sldId id="562" r:id="rId7"/>
    <p:sldId id="600" r:id="rId8"/>
    <p:sldId id="563" r:id="rId9"/>
    <p:sldId id="601" r:id="rId10"/>
    <p:sldId id="602" r:id="rId11"/>
    <p:sldId id="603" r:id="rId12"/>
    <p:sldId id="606" r:id="rId13"/>
    <p:sldId id="605" r:id="rId14"/>
    <p:sldId id="565" r:id="rId15"/>
    <p:sldId id="607" r:id="rId16"/>
    <p:sldId id="608" r:id="rId17"/>
    <p:sldId id="566" r:id="rId18"/>
    <p:sldId id="567" r:id="rId19"/>
    <p:sldId id="609" r:id="rId20"/>
    <p:sldId id="568" r:id="rId21"/>
    <p:sldId id="610" r:id="rId22"/>
    <p:sldId id="611" r:id="rId23"/>
    <p:sldId id="612" r:id="rId24"/>
    <p:sldId id="569" r:id="rId25"/>
    <p:sldId id="613" r:id="rId26"/>
    <p:sldId id="572" r:id="rId27"/>
    <p:sldId id="616" r:id="rId28"/>
    <p:sldId id="614" r:id="rId29"/>
    <p:sldId id="617" r:id="rId30"/>
    <p:sldId id="618" r:id="rId31"/>
    <p:sldId id="615" r:id="rId32"/>
    <p:sldId id="575" r:id="rId33"/>
    <p:sldId id="576" r:id="rId34"/>
    <p:sldId id="579" r:id="rId35"/>
    <p:sldId id="578" r:id="rId36"/>
    <p:sldId id="580" r:id="rId37"/>
    <p:sldId id="619" r:id="rId38"/>
    <p:sldId id="581" r:id="rId39"/>
    <p:sldId id="620" r:id="rId40"/>
    <p:sldId id="584" r:id="rId41"/>
    <p:sldId id="621" r:id="rId42"/>
    <p:sldId id="586" r:id="rId43"/>
    <p:sldId id="622" r:id="rId44"/>
    <p:sldId id="623" r:id="rId45"/>
    <p:sldId id="624" r:id="rId46"/>
    <p:sldId id="625" r:id="rId47"/>
    <p:sldId id="626" r:id="rId48"/>
    <p:sldId id="627" r:id="rId49"/>
    <p:sldId id="628" r:id="rId50"/>
    <p:sldId id="589" r:id="rId51"/>
    <p:sldId id="590" r:id="rId52"/>
    <p:sldId id="591" r:id="rId53"/>
    <p:sldId id="592" r:id="rId54"/>
    <p:sldId id="331" r:id="rId55"/>
  </p:sldIdLst>
  <p:sldSz cx="24742775" cy="13716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CCCB284-FAD9-4ACF-BBE5-987686199942}">
          <p14:sldIdLst>
            <p14:sldId id="306"/>
            <p14:sldId id="486"/>
            <p14:sldId id="561"/>
            <p14:sldId id="562"/>
            <p14:sldId id="600"/>
            <p14:sldId id="563"/>
            <p14:sldId id="601"/>
            <p14:sldId id="602"/>
            <p14:sldId id="603"/>
            <p14:sldId id="606"/>
            <p14:sldId id="605"/>
            <p14:sldId id="565"/>
            <p14:sldId id="607"/>
            <p14:sldId id="608"/>
            <p14:sldId id="566"/>
            <p14:sldId id="567"/>
            <p14:sldId id="609"/>
            <p14:sldId id="568"/>
            <p14:sldId id="610"/>
            <p14:sldId id="611"/>
            <p14:sldId id="612"/>
            <p14:sldId id="569"/>
            <p14:sldId id="613"/>
            <p14:sldId id="572"/>
            <p14:sldId id="616"/>
            <p14:sldId id="614"/>
            <p14:sldId id="617"/>
            <p14:sldId id="618"/>
            <p14:sldId id="615"/>
            <p14:sldId id="575"/>
            <p14:sldId id="576"/>
            <p14:sldId id="579"/>
            <p14:sldId id="578"/>
            <p14:sldId id="580"/>
            <p14:sldId id="619"/>
            <p14:sldId id="581"/>
            <p14:sldId id="620"/>
            <p14:sldId id="584"/>
            <p14:sldId id="621"/>
            <p14:sldId id="586"/>
            <p14:sldId id="622"/>
            <p14:sldId id="623"/>
            <p14:sldId id="624"/>
            <p14:sldId id="625"/>
            <p14:sldId id="626"/>
            <p14:sldId id="627"/>
            <p14:sldId id="628"/>
            <p14:sldId id="589"/>
            <p14:sldId id="590"/>
            <p14:sldId id="591"/>
            <p14:sldId id="592"/>
            <p14:sldId id="331"/>
          </p14:sldIdLst>
        </p14:section>
        <p14:section name="Раздел без заголовка" id="{F03BB59A-273A-4306-BA96-E51F876B3C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pos="7953" userDrawn="1">
          <p15:clr>
            <a:srgbClr val="A4A3A4"/>
          </p15:clr>
        </p15:guide>
        <p15:guide id="4" pos="10344" userDrawn="1">
          <p15:clr>
            <a:srgbClr val="A4A3A4"/>
          </p15:clr>
        </p15:guide>
        <p15:guide id="5" pos="5492" userDrawn="1">
          <p15:clr>
            <a:srgbClr val="A4A3A4"/>
          </p15:clr>
        </p15:guide>
        <p15:guide id="7" pos="626" userDrawn="1">
          <p15:clr>
            <a:srgbClr val="A4A3A4"/>
          </p15:clr>
        </p15:guide>
        <p15:guide id="8" pos="14908" userDrawn="1">
          <p15:clr>
            <a:srgbClr val="A4A3A4"/>
          </p15:clr>
        </p15:guide>
        <p15:guide id="12" orient="horz" pos="8058" userDrawn="1">
          <p15:clr>
            <a:srgbClr val="A4A3A4"/>
          </p15:clr>
        </p15:guide>
        <p15:guide id="13" orient="horz" pos="1870" userDrawn="1">
          <p15:clr>
            <a:srgbClr val="A4A3A4"/>
          </p15:clr>
        </p15:guide>
        <p15:guide id="14" pos="11296" userDrawn="1">
          <p15:clr>
            <a:srgbClr val="A4A3A4"/>
          </p15:clr>
        </p15:guide>
        <p15:guide id="15" pos="4230" userDrawn="1">
          <p15:clr>
            <a:srgbClr val="A4A3A4"/>
          </p15:clr>
        </p15:guide>
        <p15:guide id="16" orient="horz" pos="25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B683"/>
    <a:srgbClr val="C09D29"/>
    <a:srgbClr val="0072BC"/>
    <a:srgbClr val="E3C496"/>
    <a:srgbClr val="C9AAE0"/>
    <a:srgbClr val="BCD6FD"/>
    <a:srgbClr val="EDDBAD"/>
    <a:srgbClr val="525252"/>
    <a:srgbClr val="C98CE0"/>
    <a:srgbClr val="3E3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6395" autoAdjust="0"/>
  </p:normalViewPr>
  <p:slideViewPr>
    <p:cSldViewPr showGuides="1">
      <p:cViewPr varScale="1">
        <p:scale>
          <a:sx n="58" d="100"/>
          <a:sy n="58" d="100"/>
        </p:scale>
        <p:origin x="408" y="108"/>
      </p:cViewPr>
      <p:guideLst>
        <p:guide orient="horz" pos="555"/>
        <p:guide pos="7953"/>
        <p:guide pos="10344"/>
        <p:guide pos="5492"/>
        <p:guide pos="626"/>
        <p:guide pos="14908"/>
        <p:guide orient="horz" pos="8058"/>
        <p:guide orient="horz" pos="1870"/>
        <p:guide pos="11296"/>
        <p:guide pos="4230"/>
        <p:guide orient="horz" pos="2551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1pPr>
    <a:lvl2pPr marL="123063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2pPr>
    <a:lvl3pPr marL="246062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3pPr>
    <a:lvl4pPr marL="369125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4pPr>
    <a:lvl5pPr marL="492188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5pPr>
    <a:lvl6pPr marL="615251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6pPr>
    <a:lvl7pPr marL="738251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7pPr>
    <a:lvl8pPr marL="861314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8pPr>
    <a:lvl9pPr marL="984377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843437" y="7768736"/>
            <a:ext cx="23055913" cy="312171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5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9pPr>
          </a:lstStyle>
          <a:p>
            <a:endParaRPr dirty="0"/>
          </a:p>
        </p:txBody>
      </p:sp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843456" y="2753544"/>
            <a:ext cx="23055913" cy="4464497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13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13865"/>
            </a:lvl2pPr>
            <a:lvl3pPr algn="ctr">
              <a:spcBef>
                <a:spcPts val="0"/>
              </a:spcBef>
              <a:buSzPct val="100000"/>
              <a:defRPr sz="13865"/>
            </a:lvl3pPr>
            <a:lvl4pPr algn="ctr">
              <a:spcBef>
                <a:spcPts val="0"/>
              </a:spcBef>
              <a:buSzPct val="100000"/>
              <a:defRPr sz="13865"/>
            </a:lvl4pPr>
            <a:lvl5pPr algn="ctr">
              <a:spcBef>
                <a:spcPts val="0"/>
              </a:spcBef>
              <a:buSzPct val="100000"/>
              <a:defRPr sz="13865"/>
            </a:lvl5pPr>
            <a:lvl6pPr algn="ctr">
              <a:spcBef>
                <a:spcPts val="0"/>
              </a:spcBef>
              <a:buSzPct val="100000"/>
              <a:defRPr sz="13865"/>
            </a:lvl6pPr>
            <a:lvl7pPr algn="ctr">
              <a:spcBef>
                <a:spcPts val="0"/>
              </a:spcBef>
              <a:buSzPct val="100000"/>
              <a:defRPr sz="13865"/>
            </a:lvl7pPr>
            <a:lvl8pPr algn="ctr">
              <a:spcBef>
                <a:spcPts val="0"/>
              </a:spcBef>
              <a:buSzPct val="100000"/>
              <a:defRPr sz="13865"/>
            </a:lvl8pPr>
            <a:lvl9pPr algn="ctr">
              <a:spcBef>
                <a:spcPts val="0"/>
              </a:spcBef>
              <a:buSzPct val="100000"/>
              <a:defRPr sz="13865"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843437" y="5705872"/>
            <a:ext cx="23055913" cy="2244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SzPct val="100000"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9600"/>
            </a:lvl2pPr>
            <a:lvl3pPr algn="ctr">
              <a:spcBef>
                <a:spcPts val="0"/>
              </a:spcBef>
              <a:buSzPct val="100000"/>
              <a:defRPr sz="9600"/>
            </a:lvl3pPr>
            <a:lvl4pPr algn="ctr">
              <a:spcBef>
                <a:spcPts val="0"/>
              </a:spcBef>
              <a:buSzPct val="100000"/>
              <a:defRPr sz="9600"/>
            </a:lvl4pPr>
            <a:lvl5pPr algn="ctr">
              <a:spcBef>
                <a:spcPts val="0"/>
              </a:spcBef>
              <a:buSzPct val="100000"/>
              <a:defRPr sz="9600"/>
            </a:lvl5pPr>
            <a:lvl6pPr algn="ctr">
              <a:spcBef>
                <a:spcPts val="0"/>
              </a:spcBef>
              <a:buSzPct val="100000"/>
              <a:defRPr sz="9600"/>
            </a:lvl6pPr>
            <a:lvl7pPr algn="ctr">
              <a:spcBef>
                <a:spcPts val="0"/>
              </a:spcBef>
              <a:buSzPct val="100000"/>
              <a:defRPr sz="9600"/>
            </a:lvl7pPr>
            <a:lvl8pPr algn="ctr">
              <a:spcBef>
                <a:spcPts val="0"/>
              </a:spcBef>
              <a:buSzPct val="100000"/>
              <a:defRPr sz="9600"/>
            </a:lvl8pPr>
            <a:lvl9pPr algn="ctr">
              <a:spcBef>
                <a:spcPts val="0"/>
              </a:spcBef>
              <a:buSzPct val="100000"/>
              <a:defRPr sz="9600"/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857782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16224001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8661" y="560919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35755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57658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17"/>
          <p:cNvSpPr txBox="1">
            <a:spLocks noGrp="1"/>
          </p:cNvSpPr>
          <p:nvPr>
            <p:ph type="body" idx="14"/>
          </p:nvPr>
        </p:nvSpPr>
        <p:spPr>
          <a:xfrm>
            <a:off x="6603504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7"/>
          <p:cNvSpPr txBox="1">
            <a:spLocks noGrp="1"/>
          </p:cNvSpPr>
          <p:nvPr>
            <p:ph type="body" idx="15"/>
          </p:nvPr>
        </p:nvSpPr>
        <p:spPr>
          <a:xfrm>
            <a:off x="17892761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"/>
          <p:cNvSpPr>
            <a:spLocks noGrp="1"/>
          </p:cNvSpPr>
          <p:nvPr>
            <p:ph type="pic" idx="13"/>
          </p:nvPr>
        </p:nvSpPr>
        <p:spPr>
          <a:xfrm>
            <a:off x="86905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idx="15"/>
          </p:nvPr>
        </p:nvSpPr>
        <p:spPr>
          <a:xfrm>
            <a:off x="163523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Shape 17"/>
          <p:cNvSpPr txBox="1">
            <a:spLocks noGrp="1"/>
          </p:cNvSpPr>
          <p:nvPr>
            <p:ph type="body" idx="14"/>
          </p:nvPr>
        </p:nvSpPr>
        <p:spPr>
          <a:xfrm>
            <a:off x="85804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Shape 17"/>
          <p:cNvSpPr txBox="1">
            <a:spLocks noGrp="1"/>
          </p:cNvSpPr>
          <p:nvPr>
            <p:ph type="body" idx="16"/>
          </p:nvPr>
        </p:nvSpPr>
        <p:spPr>
          <a:xfrm>
            <a:off x="162422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7" name="Рисунок 2"/>
          <p:cNvSpPr>
            <a:spLocks noGrp="1"/>
          </p:cNvSpPr>
          <p:nvPr>
            <p:ph type="pic" idx="17"/>
          </p:nvPr>
        </p:nvSpPr>
        <p:spPr>
          <a:xfrm>
            <a:off x="18017851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5" name="Рисунок 2"/>
          <p:cNvSpPr>
            <a:spLocks noGrp="1"/>
          </p:cNvSpPr>
          <p:nvPr>
            <p:ph type="pic" idx="15"/>
          </p:nvPr>
        </p:nvSpPr>
        <p:spPr>
          <a:xfrm>
            <a:off x="12371387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idx="13"/>
          </p:nvPr>
        </p:nvSpPr>
        <p:spPr>
          <a:xfrm>
            <a:off x="6720856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20" name="Shape 17"/>
          <p:cNvSpPr txBox="1">
            <a:spLocks noGrp="1"/>
          </p:cNvSpPr>
          <p:nvPr>
            <p:ph type="body" idx="14"/>
          </p:nvPr>
        </p:nvSpPr>
        <p:spPr>
          <a:xfrm>
            <a:off x="6610747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6" name="Shape 17"/>
          <p:cNvSpPr txBox="1">
            <a:spLocks noGrp="1"/>
          </p:cNvSpPr>
          <p:nvPr>
            <p:ph type="body" idx="16"/>
          </p:nvPr>
        </p:nvSpPr>
        <p:spPr>
          <a:xfrm>
            <a:off x="12261278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8" name="Shape 17"/>
          <p:cNvSpPr txBox="1">
            <a:spLocks noGrp="1"/>
          </p:cNvSpPr>
          <p:nvPr>
            <p:ph type="body" idx="18"/>
          </p:nvPr>
        </p:nvSpPr>
        <p:spPr>
          <a:xfrm>
            <a:off x="17907742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71388" y="720000"/>
            <a:ext cx="21600000" cy="1440000"/>
          </a:xfrm>
        </p:spPr>
        <p:txBody>
          <a:bodyPr lIns="0" tIns="0" rIns="0" bIns="0"/>
          <a:lstStyle>
            <a:lvl1pPr algn="ctr" fontAlgn="base">
              <a:defRPr sz="6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1403388" y="12628800"/>
            <a:ext cx="540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8411388" y="12628800"/>
            <a:ext cx="792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843437" y="1186742"/>
            <a:ext cx="23055913" cy="1527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843437" y="3073267"/>
            <a:ext cx="23055913" cy="91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-US" sz="2665" smtClean="0">
                <a:solidFill>
                  <a:schemeClr val="dk2"/>
                </a:solidFill>
              </a:rPr>
            </a:fld>
            <a:endParaRPr lang="en-US" sz="2665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1722735" y="11754485"/>
            <a:ext cx="12978130" cy="156781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Докладчик: Евграфов Михаил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5734685" y="5862320"/>
            <a:ext cx="13272770" cy="199136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ru-RU" altLang="ru-RU" sz="9600" dirty="0">
                <a:solidFill>
                  <a:schemeClr val="bg1"/>
                </a:solidFill>
              </a:rPr>
              <a:t>ООП в </a:t>
            </a:r>
            <a:r>
              <a:rPr lang="en-US" altLang="ru-RU" sz="9600" dirty="0">
                <a:solidFill>
                  <a:schemeClr val="bg1"/>
                </a:solidFill>
              </a:rPr>
              <a:t>Python</a:t>
            </a:r>
            <a:endParaRPr lang="en-US" altLang="ru-RU" sz="96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371" y="1025352"/>
            <a:ext cx="2437777" cy="73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6040120" y="4050030"/>
            <a:ext cx="126631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Инкапсуляция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49294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817995" cy="1505585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897505"/>
            <a:ext cx="19307810" cy="783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очень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много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сложных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операций</a:t>
            </a:r>
            <a:endParaRPr lang="en-US" altLang="en-US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33246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Возможное решение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170"/>
            <a:ext cx="22018625" cy="925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77670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Что нужно пользователю?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170"/>
            <a:ext cx="22018625" cy="925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4800">
              <a:solidFill>
                <a:schemeClr val="bg2">
                  <a:lumMod val="40000"/>
                  <a:lumOff val="6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59128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Что получат пользователи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4265295"/>
            <a:ext cx="16053435" cy="5389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3019405" y="5184775"/>
            <a:ext cx="22009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OK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6403955" y="6120765"/>
            <a:ext cx="36347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утечка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7627600" y="6985000"/>
            <a:ext cx="36347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утечка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2226925" y="7920990"/>
            <a:ext cx="36347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утечка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7" grpId="0"/>
      <p:bldP spid="7" grpId="1"/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33246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Инкапсуляция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170"/>
            <a:ext cx="21637625" cy="925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37043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решена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?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4265295"/>
            <a:ext cx="21840825" cy="5389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ru-RU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 </a:t>
            </a:r>
            <a:r>
              <a:rPr lang="ru-RU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работает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ru-RU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работает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ru-RU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работает</a:t>
            </a:r>
            <a:endParaRPr lang="ru-RU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8579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Почему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это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170"/>
            <a:ext cx="21637625" cy="925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4800"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=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_check_creation_data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_check_creation_data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8579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Почему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это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170"/>
            <a:ext cx="21637625" cy="925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class PersonCRUD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_check_creation_data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_check_creation_data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str)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4800">
              <a:solidFill>
                <a:schemeClr val="bg2">
                  <a:lumMod val="40000"/>
                  <a:lumOff val="6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41843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Это вина пользователя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545205"/>
            <a:ext cx="18723610" cy="686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ru-RU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check_creation_kwargs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 </a:t>
            </a:r>
            <a:r>
              <a:rPr lang="ru-RU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FAIL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create_new_person_record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AttributeError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083520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__attr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09215"/>
            <a:ext cx="12984480" cy="940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AttributeError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18184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Ограничения </a:t>
            </a:r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__attr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09215"/>
            <a:ext cx="19167475" cy="940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_PersonCRUD__session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 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OK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Ellipsis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18184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Ограничения </a:t>
            </a:r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__attr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09215"/>
            <a:ext cx="19167475" cy="296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 flipV="1">
            <a:off x="4882515" y="4841875"/>
            <a:ext cx="13335" cy="29552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/>
        </p:nvSpPr>
        <p:spPr>
          <a:xfrm>
            <a:off x="2362200" y="7938135"/>
            <a:ext cx="149142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не получится обращаться напрямую из дочерних классов 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918273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getter </a:t>
            </a:r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setter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65070"/>
            <a:ext cx="21853525" cy="932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set_session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54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036002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765425"/>
            <a:ext cx="18333085" cy="8559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2350877765968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set_session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2350871711312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551751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property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6065520"/>
            <a:ext cx="18333085" cy="1232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property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fget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fset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fdel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5602605" y="4599305"/>
            <a:ext cx="2540" cy="13227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/>
        </p:nvSpPr>
        <p:spPr>
          <a:xfrm>
            <a:off x="993775" y="2681605"/>
            <a:ext cx="66033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функция для чтения атрибута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10643235" y="4599305"/>
            <a:ext cx="2540" cy="13227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Текстовое поле 7"/>
          <p:cNvSpPr txBox="1"/>
          <p:nvPr/>
        </p:nvSpPr>
        <p:spPr>
          <a:xfrm>
            <a:off x="9347200" y="2702560"/>
            <a:ext cx="78854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функция для удаления атрибута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8122920" y="7145655"/>
            <a:ext cx="0" cy="13227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Текстовое поле 9"/>
          <p:cNvSpPr txBox="1"/>
          <p:nvPr/>
        </p:nvSpPr>
        <p:spPr>
          <a:xfrm>
            <a:off x="4180205" y="8780780"/>
            <a:ext cx="78854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функция для записи атрибута</a:t>
            </a:r>
            <a:endParaRPr lang="ru-RU" altLang="ru-RU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/>
      <p:bldP spid="10" grpId="1"/>
      <p:bldP spid="8" grpId="0"/>
      <p:bldP spid="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083520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property getter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09215"/>
            <a:ext cx="18851245" cy="941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"get session"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property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010539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09215"/>
            <a:ext cx="22156420" cy="941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get session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2350878530576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AttributeError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property 'session' ... has no setter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083520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property setter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09215"/>
            <a:ext cx="20241895" cy="7372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set_session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"set new session"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property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get_session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et_session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010539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033270"/>
            <a:ext cx="18519140" cy="10140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get session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2350878530576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set new session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get session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2350878264720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25740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Декоратор </a:t>
            </a:r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property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05025"/>
            <a:ext cx="17962880" cy="1020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property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"get session"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setter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"set new session"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4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44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010539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033270"/>
            <a:ext cx="18519140" cy="10140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get session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2350878530576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session_curr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set new session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get session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2350878264720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6040120" y="4050030"/>
            <a:ext cx="126631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Наследование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49294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54494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033270"/>
            <a:ext cx="21008975" cy="10301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SuperPersonCRUD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_session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Session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повторяет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реализацию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PersonCRUD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_check_creation_kwargs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повторяет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реализацию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PersonCRUD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различия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только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тут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93122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Наследование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497965" y="5129530"/>
            <a:ext cx="9638030" cy="425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statement1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statement2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2506345" y="2513965"/>
            <a:ext cx="62407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идентификатор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0210800" y="2609215"/>
            <a:ext cx="73914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родительские классы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9" name="Правая фигурная скобка 8"/>
          <p:cNvSpPr/>
          <p:nvPr/>
        </p:nvSpPr>
        <p:spPr>
          <a:xfrm>
            <a:off x="11435080" y="6209665"/>
            <a:ext cx="547370" cy="2446655"/>
          </a:xfrm>
          <a:prstGeom prst="rightBrace">
            <a:avLst>
              <a:gd name="adj1" fmla="val 46737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1918950" y="6642100"/>
            <a:ext cx="39744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тело</a:t>
            </a:r>
            <a:r>
              <a:rPr lang="en-US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ru-RU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класса</a:t>
            </a:r>
            <a:endParaRPr lang="ru-RU" altLang="ru-RU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602605" y="3545205"/>
            <a:ext cx="0" cy="14401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8986520" y="3545840"/>
            <a:ext cx="3312795" cy="14319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5449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Решение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66950"/>
            <a:ext cx="21560790" cy="10067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"person method"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SuperPersonCRUD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"super person method"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5449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Решение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333115"/>
            <a:ext cx="16301085" cy="688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person method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super_person_crud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super_person_crud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super person method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69008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Множественное наследование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497965" y="5129530"/>
            <a:ext cx="13616940" cy="425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MyClass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Parent1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Parent2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statement1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statement2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2506345" y="2513965"/>
            <a:ext cx="62407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идентификатор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4118590" y="2609215"/>
            <a:ext cx="73914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родительские классы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9" name="Правая фигурная скобка 8"/>
          <p:cNvSpPr/>
          <p:nvPr/>
        </p:nvSpPr>
        <p:spPr>
          <a:xfrm>
            <a:off x="15343505" y="6209665"/>
            <a:ext cx="547370" cy="2446655"/>
          </a:xfrm>
          <a:prstGeom prst="rightBrace">
            <a:avLst>
              <a:gd name="adj1" fmla="val 46737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5827375" y="6642100"/>
            <a:ext cx="39744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тело</a:t>
            </a:r>
            <a:r>
              <a:rPr lang="en-US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ru-RU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класса</a:t>
            </a:r>
            <a:endParaRPr lang="ru-RU" altLang="ru-RU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5602605" y="3545205"/>
            <a:ext cx="0" cy="14401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8986520" y="3833495"/>
            <a:ext cx="6337300" cy="11442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Прямая со стрелкой 2"/>
          <p:cNvCxnSpPr/>
          <p:nvPr/>
        </p:nvCxnSpPr>
        <p:spPr>
          <a:xfrm flipH="1">
            <a:off x="12731115" y="3833495"/>
            <a:ext cx="2592705" cy="11442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 ромба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65070"/>
            <a:ext cx="11346815" cy="9623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"parallelogram area"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"rectangle area"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"rhombus area"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pass</a:t>
            </a:r>
            <a:endParaRPr lang="en-US" altLang="ru-RU" sz="4400">
              <a:solidFill>
                <a:srgbClr val="7030A0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 ромба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5129530"/>
            <a:ext cx="11346815" cy="191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379450" y="3401695"/>
            <a:ext cx="8369300" cy="743267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80745" y="6929755"/>
            <a:ext cx="70745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rectangle area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MRO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066165" y="5382260"/>
            <a:ext cx="3024505" cy="295211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800">
                <a:latin typeface="+mj-lt"/>
                <a:cs typeface="+mj-lt"/>
              </a:rPr>
              <a:t>square</a:t>
            </a:r>
            <a:endParaRPr lang="en-US" altLang="ru-RU" sz="4800">
              <a:latin typeface="+mj-lt"/>
              <a:cs typeface="+mj-lt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026025" y="5382260"/>
            <a:ext cx="3024505" cy="295211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800">
                <a:latin typeface="+mj-lt"/>
                <a:cs typeface="+mj-lt"/>
              </a:rPr>
              <a:t>Square</a:t>
            </a:r>
            <a:endParaRPr lang="en-US" altLang="ru-RU" sz="4800">
              <a:latin typeface="+mj-lt"/>
              <a:cs typeface="+mj-lt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986520" y="1889760"/>
            <a:ext cx="4058920" cy="29521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800">
                <a:latin typeface="+mj-lt"/>
                <a:cs typeface="+mj-lt"/>
              </a:rPr>
              <a:t>Rectangle</a:t>
            </a:r>
            <a:endParaRPr lang="en-US" altLang="ru-RU" sz="4800">
              <a:latin typeface="+mj-lt"/>
              <a:cs typeface="+mj-lt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986520" y="8874125"/>
            <a:ext cx="4058920" cy="29521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800">
                <a:latin typeface="+mj-lt"/>
                <a:cs typeface="+mj-lt"/>
              </a:rPr>
              <a:t>Rhombus</a:t>
            </a:r>
            <a:endParaRPr lang="en-US" altLang="ru-RU" sz="4800">
              <a:latin typeface="+mj-lt"/>
              <a:cs typeface="+mj-lt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3883005" y="5346065"/>
            <a:ext cx="5493385" cy="29521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800">
                <a:latin typeface="+mj-lt"/>
                <a:cs typeface="+mj-lt"/>
              </a:rPr>
              <a:t>Parallelogram</a:t>
            </a:r>
            <a:endParaRPr lang="en-US" altLang="ru-RU" sz="4800">
              <a:latin typeface="+mj-lt"/>
              <a:cs typeface="+mj-lt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20364450" y="5346065"/>
            <a:ext cx="3024505" cy="295211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800">
                <a:latin typeface="+mj-lt"/>
                <a:cs typeface="+mj-lt"/>
              </a:rPr>
              <a:t>object</a:t>
            </a:r>
            <a:endParaRPr lang="en-US" altLang="ru-RU" sz="4800">
              <a:latin typeface="+mj-lt"/>
              <a:cs typeface="+mj-lt"/>
            </a:endParaRPr>
          </a:p>
        </p:txBody>
      </p:sp>
      <p:cxnSp>
        <p:nvCxnSpPr>
          <p:cNvPr id="12" name="Прямая со стрелкой 11"/>
          <p:cNvCxnSpPr>
            <a:stCxn id="3" idx="3"/>
            <a:endCxn id="5" idx="1"/>
          </p:cNvCxnSpPr>
          <p:nvPr/>
        </p:nvCxnSpPr>
        <p:spPr>
          <a:xfrm>
            <a:off x="4090670" y="6858635"/>
            <a:ext cx="935355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5" idx="0"/>
            <a:endCxn id="7" idx="1"/>
          </p:cNvCxnSpPr>
          <p:nvPr/>
        </p:nvCxnSpPr>
        <p:spPr>
          <a:xfrm flipV="1">
            <a:off x="6538595" y="3366135"/>
            <a:ext cx="2447925" cy="20161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7" idx="2"/>
            <a:endCxn id="8" idx="0"/>
          </p:cNvCxnSpPr>
          <p:nvPr/>
        </p:nvCxnSpPr>
        <p:spPr>
          <a:xfrm>
            <a:off x="11015980" y="4841875"/>
            <a:ext cx="0" cy="40322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endCxn id="9" idx="2"/>
          </p:cNvCxnSpPr>
          <p:nvPr/>
        </p:nvCxnSpPr>
        <p:spPr>
          <a:xfrm flipV="1">
            <a:off x="13155930" y="8298180"/>
            <a:ext cx="3474085" cy="20345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9" idx="3"/>
            <a:endCxn id="11" idx="1"/>
          </p:cNvCxnSpPr>
          <p:nvPr/>
        </p:nvCxnSpPr>
        <p:spPr>
          <a:xfrm>
            <a:off x="19376390" y="6822440"/>
            <a:ext cx="98806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Текстовое поле 16"/>
          <p:cNvSpPr txBox="1"/>
          <p:nvPr/>
        </p:nvSpPr>
        <p:spPr>
          <a:xfrm>
            <a:off x="16043910" y="10332720"/>
            <a:ext cx="74625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AttributeError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7" grpId="0"/>
      <p:bldP spid="17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__mro__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041650"/>
            <a:ext cx="21255990" cy="7724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__mro__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(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&lt;class '__main__.Square'&gt;,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&lt;class '__main__.Rectangle'&gt;,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&lt;class '__main__.Rhombus'&gt;,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&lt;class '__main__.Parallelogram'&gt;,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&lt;class 'object'&gt;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)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79894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77415"/>
            <a:ext cx="13100685" cy="10063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"rectangle area"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"rhombus area"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"square area"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4171295" y="5417820"/>
            <a:ext cx="884618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5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хотим дополнять реализацию первого родителя</a:t>
            </a:r>
            <a:endParaRPr lang="ru-RU" altLang="en-US" sz="5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79894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177415"/>
            <a:ext cx="19900265" cy="10063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"rectangle area"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"rhombus area"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Rectangle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меняем порядок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Rhombus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нужно менять вручную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"square area"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super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897505"/>
            <a:ext cx="14208125" cy="8517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"square area"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rectangle area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square area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super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897505"/>
            <a:ext cx="21881465" cy="8517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Rhombus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Rectangle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меняем порядок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ru-RU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ничего менять не надо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"square area"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rhombus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square area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177260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Переопределение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__init__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537460"/>
            <a:ext cx="13665200" cy="943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Parent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"call origin"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ChildOverride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Parent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"call override only"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child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ChildOverride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call override only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954000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Дополнение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__init__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170"/>
            <a:ext cx="13665200" cy="9951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Parent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"call origin"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ChildAppendix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Parent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"call override only"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child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ChildOverride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call origin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call appendix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492460" cy="1755140"/>
          </a:xfrm>
        </p:spPr>
        <p:txBody>
          <a:bodyPr/>
          <a:lstStyle/>
          <a:p>
            <a:r>
              <a:rPr lang="ru-RU" sz="8000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</a:t>
            </a:r>
            <a:r>
              <a:rPr lang="en-US" sz="8000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init__ </a:t>
            </a:r>
            <a:r>
              <a:rPr lang="ru-RU" sz="8000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множественное наследование</a:t>
            </a:r>
            <a:endParaRPr lang="ru-RU" sz="8000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350260"/>
            <a:ext cx="14770100" cy="7015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"init rectangle"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"init rhombus"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492460" cy="1755140"/>
          </a:xfrm>
        </p:spPr>
        <p:txBody>
          <a:bodyPr/>
          <a:lstStyle/>
          <a:p>
            <a:r>
              <a:rPr lang="ru-RU" sz="8000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</a:t>
            </a:r>
            <a:r>
              <a:rPr lang="en-US" sz="8000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init__ </a:t>
            </a:r>
            <a:r>
              <a:rPr lang="ru-RU" sz="8000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множественное наследование</a:t>
            </a:r>
            <a:endParaRPr lang="ru-RU" sz="8000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041650"/>
            <a:ext cx="14770100" cy="8331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"init square"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init rectangle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init square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279130" cy="1755140"/>
          </a:xfrm>
        </p:spPr>
        <p:txBody>
          <a:bodyPr/>
          <a:lstStyle/>
          <a:p>
            <a:r>
              <a:rPr lang="ru-RU" sz="8000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Исправление</a:t>
            </a:r>
            <a:endParaRPr lang="ru-RU" sz="8000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14770100" cy="930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Rectangle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Rhombus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__init__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"init square"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init rectangle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init rhombus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init square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32470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Проблема: хрупкие классы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66950"/>
            <a:ext cx="21560790" cy="10067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"person method"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SuperPersonCRUD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"super person method"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32470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Проблема: хрупкие классы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66950"/>
            <a:ext cx="21560790" cy="10067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C9AAE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_create_new_record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_create_new_record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E3C496"/>
                </a:solidFill>
                <a:latin typeface="Consolas" panose="020B0609020204030204" charset="0"/>
                <a:cs typeface="Consolas" panose="020B0609020204030204" charset="0"/>
              </a:rPr>
              <a:t>"person method"</a:t>
            </a:r>
            <a:r>
              <a:rPr lang="en-US" altLang="ru-RU" sz="48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SuperPersonCRUD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_create_new_person_record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**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"super person method"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64728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Проблема: хрупкие классы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333115"/>
            <a:ext cx="16301085" cy="688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person method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super_person_crud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SuperPersonCRUD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super_person_crud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create_person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person method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792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Проблема: нарушение логики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64105"/>
            <a:ext cx="15570200" cy="10070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height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height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side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side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height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side</a:t>
            </a:r>
            <a:endParaRPr lang="en-US" altLang="ru-RU" sz="4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792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Проблема: нарушение логики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65070"/>
            <a:ext cx="13851255" cy="10070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side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25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"square height: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height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"square width: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square height: 5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square width: 5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15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6040120" y="4050030"/>
            <a:ext cx="126631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Полиморфизм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49294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Полиморфизм и протоколы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185160"/>
            <a:ext cx="16550640" cy="7597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list_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tuple_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tuple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set_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)}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  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5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tuple_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 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4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set_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   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3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dict_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  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Полиморфизм и наследование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21560"/>
            <a:ext cx="13750925" cy="9912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("parallelogram area")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"rectangle area"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"rhombus area"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8814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Полиморфизм и наследование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811905"/>
            <a:ext cx="21910040" cy="6346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polygons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Parallelogram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Rhombus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()]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polygon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polygons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polygon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parallelogram area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rectangle area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rhombus area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l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Семинар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492943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simple-light-2">
  <a:themeElements>
    <a:clrScheme name="МФТИ">
      <a:dk1>
        <a:srgbClr val="525252"/>
      </a:dk1>
      <a:lt1>
        <a:srgbClr val="FFFFFF"/>
      </a:lt1>
      <a:dk2>
        <a:srgbClr val="525252"/>
      </a:dk2>
      <a:lt2>
        <a:srgbClr val="FFFFFF"/>
      </a:lt2>
      <a:accent1>
        <a:srgbClr val="0072BC"/>
      </a:accent1>
      <a:accent2>
        <a:srgbClr val="525252"/>
      </a:accent2>
      <a:accent3>
        <a:srgbClr val="7C7C7C"/>
      </a:accent3>
      <a:accent4>
        <a:srgbClr val="FFAB40"/>
      </a:accent4>
      <a:accent5>
        <a:srgbClr val="0072BC"/>
      </a:accent5>
      <a:accent6>
        <a:srgbClr val="525252"/>
      </a:accent6>
      <a:hlink>
        <a:srgbClr val="FFAB40"/>
      </a:hlink>
      <a:folHlink>
        <a:srgbClr val="92C5EB"/>
      </a:folHlink>
    </a:clrScheme>
    <a:fontScheme name="МФТИ">
      <a:majorFont>
        <a:latin typeface="Arial Blac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11564</Words>
  <Application>WPS Presentation</Application>
  <PresentationFormat>Произвольный</PresentationFormat>
  <Paragraphs>736</Paragraphs>
  <Slides>52</Slides>
  <Notes>10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4" baseType="lpstr">
      <vt:lpstr>Arial</vt:lpstr>
      <vt:lpstr>SimSun</vt:lpstr>
      <vt:lpstr>Wingdings</vt:lpstr>
      <vt:lpstr>Arial</vt:lpstr>
      <vt:lpstr>Segoe UI</vt:lpstr>
      <vt:lpstr>Arial Black</vt:lpstr>
      <vt:lpstr>Tahoma</vt:lpstr>
      <vt:lpstr>Franklin Gothic Book</vt:lpstr>
      <vt:lpstr>Consolas</vt:lpstr>
      <vt:lpstr>Microsoft YaHei</vt:lpstr>
      <vt:lpstr>Arial Unicode MS</vt:lpstr>
      <vt:lpstr>simple-light-2</vt:lpstr>
      <vt:lpstr>ООП в Python</vt:lpstr>
      <vt:lpstr>Инкапсуляция</vt:lpstr>
      <vt:lpstr>Публичные и служебные атрибуты</vt:lpstr>
      <vt:lpstr>Публичные и служебные атрибуты</vt:lpstr>
      <vt:lpstr>Возможное решение</vt:lpstr>
      <vt:lpstr>getter и setter</vt:lpstr>
      <vt:lpstr>Возможное решение</vt:lpstr>
      <vt:lpstr>Что получат пользователи</vt:lpstr>
      <vt:lpstr>Инкапсуляция</vt:lpstr>
      <vt:lpstr>Почему это не проблема</vt:lpstr>
      <vt:lpstr>Проблема решена?</vt:lpstr>
      <vt:lpstr>property getter</vt:lpstr>
      <vt:lpstr>__attr</vt:lpstr>
      <vt:lpstr>Ограничения __attr</vt:lpstr>
      <vt:lpstr>property getter</vt:lpstr>
      <vt:lpstr>property setter</vt:lpstr>
      <vt:lpstr>Использование</vt:lpstr>
      <vt:lpstr>property setter</vt:lpstr>
      <vt:lpstr>property getter</vt:lpstr>
      <vt:lpstr>property getter</vt:lpstr>
      <vt:lpstr>Использование</vt:lpstr>
      <vt:lpstr>@property</vt:lpstr>
      <vt:lpstr>Использование</vt:lpstr>
      <vt:lpstr>Наследование</vt:lpstr>
      <vt:lpstr>Проблема ромба</vt:lpstr>
      <vt:lpstr>Определение класса</vt:lpstr>
      <vt:lpstr>Проблема</vt:lpstr>
      <vt:lpstr>Решение</vt:lpstr>
      <vt:lpstr>Наследование</vt:lpstr>
      <vt:lpstr>Проблема ромба</vt:lpstr>
      <vt:lpstr>Проблема ромба</vt:lpstr>
      <vt:lpstr>MRO</vt:lpstr>
      <vt:lpstr>__mro__</vt:lpstr>
      <vt:lpstr>Зачем нужен super?</vt:lpstr>
      <vt:lpstr>Проблема</vt:lpstr>
      <vt:lpstr>Зачем нужен super?</vt:lpstr>
      <vt:lpstr>super</vt:lpstr>
      <vt:lpstr>super и __init__</vt:lpstr>
      <vt:lpstr>Переопределение __init__</vt:lpstr>
      <vt:lpstr>__init__ и множественное наследование</vt:lpstr>
      <vt:lpstr>__init__ и множественное наследование</vt:lpstr>
      <vt:lpstr>__init__ и множественное наследование</vt:lpstr>
      <vt:lpstr>Решение</vt:lpstr>
      <vt:lpstr>Проблема: хрупкие классы</vt:lpstr>
      <vt:lpstr>Решение</vt:lpstr>
      <vt:lpstr>Проблема: хрупкие классы</vt:lpstr>
      <vt:lpstr>Проблема: нарушение логики</vt:lpstr>
      <vt:lpstr>Полиморфизм</vt:lpstr>
      <vt:lpstr>Полиморфизм и протоколы</vt:lpstr>
      <vt:lpstr>Полиморфизм и наследование</vt:lpstr>
      <vt:lpstr>Полиморфизм и наследование</vt:lpstr>
      <vt:lpstr>Семинар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MIPT / Phystech</dc:title>
  <dc:creator>Marina</dc:creator>
  <cp:lastModifiedBy>Michail Evgrafov</cp:lastModifiedBy>
  <cp:revision>798</cp:revision>
  <dcterms:created xsi:type="dcterms:W3CDTF">2023-09-07T15:23:00Z</dcterms:created>
  <dcterms:modified xsi:type="dcterms:W3CDTF">2025-11-28T21:56:16Z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939A7A65A70D42D3AFBDFCFAB1B7D962_12</vt:lpwstr>
  </property>
  <property fmtid="{D5CDD505-2E9C-101B-9397-08002B2CF9AE}" pid="3" name="KSOProductBuildVer">
    <vt:lpwstr>1049-12.2.0.23155</vt:lpwstr>
  </property>
</Properties>
</file>