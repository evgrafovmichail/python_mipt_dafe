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autoCompressPictures="0">
  <p:sldMasterIdLst>
    <p:sldMasterId id="2147483648" r:id="rId1"/>
  </p:sldMasterIdLst>
  <p:notesMasterIdLst>
    <p:notesMasterId r:id="rId5"/>
  </p:notesMasterIdLst>
  <p:sldIdLst>
    <p:sldId id="306" r:id="rId3"/>
    <p:sldId id="601" r:id="rId4"/>
    <p:sldId id="772" r:id="rId6"/>
    <p:sldId id="773" r:id="rId7"/>
    <p:sldId id="774" r:id="rId8"/>
    <p:sldId id="775" r:id="rId9"/>
    <p:sldId id="776" r:id="rId10"/>
    <p:sldId id="777" r:id="rId11"/>
    <p:sldId id="779" r:id="rId12"/>
    <p:sldId id="780" r:id="rId13"/>
    <p:sldId id="781" r:id="rId14"/>
    <p:sldId id="782" r:id="rId15"/>
    <p:sldId id="783" r:id="rId16"/>
    <p:sldId id="784" r:id="rId17"/>
    <p:sldId id="785" r:id="rId18"/>
    <p:sldId id="786" r:id="rId19"/>
    <p:sldId id="788" r:id="rId20"/>
    <p:sldId id="791" r:id="rId21"/>
    <p:sldId id="792" r:id="rId22"/>
    <p:sldId id="793" r:id="rId23"/>
    <p:sldId id="794" r:id="rId24"/>
    <p:sldId id="795" r:id="rId25"/>
    <p:sldId id="797" r:id="rId26"/>
    <p:sldId id="799" r:id="rId27"/>
    <p:sldId id="800" r:id="rId28"/>
    <p:sldId id="801" r:id="rId29"/>
    <p:sldId id="802" r:id="rId30"/>
    <p:sldId id="727" r:id="rId31"/>
    <p:sldId id="729" r:id="rId32"/>
    <p:sldId id="730" r:id="rId33"/>
    <p:sldId id="733" r:id="rId34"/>
    <p:sldId id="732" r:id="rId35"/>
    <p:sldId id="734" r:id="rId36"/>
    <p:sldId id="735" r:id="rId37"/>
    <p:sldId id="736" r:id="rId38"/>
    <p:sldId id="737" r:id="rId39"/>
    <p:sldId id="738" r:id="rId40"/>
    <p:sldId id="739" r:id="rId41"/>
    <p:sldId id="740" r:id="rId42"/>
    <p:sldId id="741" r:id="rId43"/>
    <p:sldId id="742" r:id="rId44"/>
    <p:sldId id="743" r:id="rId45"/>
    <p:sldId id="744" r:id="rId46"/>
    <p:sldId id="745" r:id="rId47"/>
    <p:sldId id="746" r:id="rId48"/>
    <p:sldId id="747" r:id="rId49"/>
    <p:sldId id="748" r:id="rId50"/>
    <p:sldId id="749" r:id="rId51"/>
    <p:sldId id="750" r:id="rId52"/>
    <p:sldId id="752" r:id="rId53"/>
    <p:sldId id="753" r:id="rId54"/>
    <p:sldId id="754" r:id="rId55"/>
    <p:sldId id="755" r:id="rId56"/>
    <p:sldId id="757" r:id="rId57"/>
    <p:sldId id="758" r:id="rId58"/>
    <p:sldId id="759" r:id="rId59"/>
    <p:sldId id="803" r:id="rId60"/>
    <p:sldId id="760" r:id="rId61"/>
    <p:sldId id="762" r:id="rId62"/>
    <p:sldId id="763" r:id="rId63"/>
    <p:sldId id="764" r:id="rId64"/>
    <p:sldId id="765" r:id="rId65"/>
    <p:sldId id="766" r:id="rId66"/>
    <p:sldId id="767" r:id="rId67"/>
    <p:sldId id="768" r:id="rId68"/>
    <p:sldId id="769" r:id="rId69"/>
    <p:sldId id="770" r:id="rId70"/>
    <p:sldId id="771" r:id="rId71"/>
    <p:sldId id="804" r:id="rId72"/>
  </p:sldIdLst>
  <p:sldSz cx="24742775" cy="13716000"/>
  <p:notesSz cx="6858000" cy="9144000"/>
  <p:defaultTextStyle>
    <a:defPPr marR="0" algn="l" rtl="0">
      <a:lnSpc>
        <a:spcPct val="100000"/>
      </a:lnSpc>
      <a:spcBef>
        <a:spcPts val="0"/>
      </a:spcBef>
      <a:spcAft>
        <a:spcPts val="0"/>
      </a:spcAft>
    </a:defPPr>
    <a:lvl1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1CCCB284-FAD9-4ACF-BBE5-987686199942}">
          <p14:sldIdLst>
            <p14:sldId id="306"/>
            <p14:sldId id="601"/>
            <p14:sldId id="772"/>
            <p14:sldId id="773"/>
            <p14:sldId id="774"/>
            <p14:sldId id="775"/>
            <p14:sldId id="776"/>
            <p14:sldId id="777"/>
            <p14:sldId id="779"/>
            <p14:sldId id="780"/>
            <p14:sldId id="781"/>
            <p14:sldId id="782"/>
            <p14:sldId id="783"/>
            <p14:sldId id="784"/>
            <p14:sldId id="785"/>
            <p14:sldId id="786"/>
            <p14:sldId id="788"/>
            <p14:sldId id="791"/>
            <p14:sldId id="792"/>
            <p14:sldId id="793"/>
            <p14:sldId id="794"/>
            <p14:sldId id="795"/>
            <p14:sldId id="797"/>
            <p14:sldId id="799"/>
            <p14:sldId id="800"/>
            <p14:sldId id="801"/>
            <p14:sldId id="802"/>
            <p14:sldId id="727"/>
            <p14:sldId id="729"/>
            <p14:sldId id="730"/>
            <p14:sldId id="733"/>
            <p14:sldId id="732"/>
            <p14:sldId id="734"/>
            <p14:sldId id="735"/>
            <p14:sldId id="736"/>
            <p14:sldId id="737"/>
            <p14:sldId id="738"/>
            <p14:sldId id="739"/>
            <p14:sldId id="740"/>
            <p14:sldId id="741"/>
            <p14:sldId id="742"/>
            <p14:sldId id="743"/>
            <p14:sldId id="744"/>
            <p14:sldId id="745"/>
            <p14:sldId id="746"/>
            <p14:sldId id="747"/>
            <p14:sldId id="748"/>
            <p14:sldId id="749"/>
            <p14:sldId id="750"/>
            <p14:sldId id="752"/>
            <p14:sldId id="753"/>
            <p14:sldId id="754"/>
            <p14:sldId id="755"/>
            <p14:sldId id="757"/>
            <p14:sldId id="758"/>
            <p14:sldId id="759"/>
            <p14:sldId id="803"/>
            <p14:sldId id="760"/>
            <p14:sldId id="762"/>
            <p14:sldId id="763"/>
            <p14:sldId id="764"/>
            <p14:sldId id="765"/>
            <p14:sldId id="766"/>
            <p14:sldId id="767"/>
            <p14:sldId id="768"/>
            <p14:sldId id="769"/>
            <p14:sldId id="770"/>
            <p14:sldId id="771"/>
            <p14:sldId id="804"/>
          </p14:sldIdLst>
        </p14:section>
        <p14:section name="Раздел без заголовка" id="{F03BB59A-273A-4306-BA96-E51F876B3C44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555" userDrawn="1">
          <p15:clr>
            <a:srgbClr val="A4A3A4"/>
          </p15:clr>
        </p15:guide>
        <p15:guide id="2" pos="7926" userDrawn="1">
          <p15:clr>
            <a:srgbClr val="A4A3A4"/>
          </p15:clr>
        </p15:guide>
        <p15:guide id="4" pos="10374" userDrawn="1">
          <p15:clr>
            <a:srgbClr val="A4A3A4"/>
          </p15:clr>
        </p15:guide>
        <p15:guide id="5" pos="5464" userDrawn="1">
          <p15:clr>
            <a:srgbClr val="A4A3A4"/>
          </p15:clr>
        </p15:guide>
        <p15:guide id="7" pos="626" userDrawn="1">
          <p15:clr>
            <a:srgbClr val="A4A3A4"/>
          </p15:clr>
        </p15:guide>
        <p15:guide id="8" pos="14908" userDrawn="1">
          <p15:clr>
            <a:srgbClr val="A4A3A4"/>
          </p15:clr>
        </p15:guide>
        <p15:guide id="12" orient="horz" pos="8036" userDrawn="1">
          <p15:clr>
            <a:srgbClr val="A4A3A4"/>
          </p15:clr>
        </p15:guide>
        <p15:guide id="13" orient="horz" pos="1800" userDrawn="1">
          <p15:clr>
            <a:srgbClr val="A4A3A4"/>
          </p15:clr>
        </p15:guide>
        <p15:guide id="14" pos="11249" userDrawn="1">
          <p15:clr>
            <a:srgbClr val="A4A3A4"/>
          </p15:clr>
        </p15:guide>
        <p15:guide id="15" pos="4269" userDrawn="1">
          <p15:clr>
            <a:srgbClr val="A4A3A4"/>
          </p15:clr>
        </p15:guide>
        <p15:guide id="16" orient="horz" pos="2551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CB683"/>
    <a:srgbClr val="0072BC"/>
    <a:srgbClr val="C09D29"/>
    <a:srgbClr val="3E3E3E"/>
    <a:srgbClr val="E3C496"/>
    <a:srgbClr val="EDDBAD"/>
    <a:srgbClr val="BCD6FD"/>
    <a:srgbClr val="CC4E3F"/>
    <a:srgbClr val="525252"/>
    <a:srgbClr val="6804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263" autoAdjust="0"/>
    <p:restoredTop sz="96395" autoAdjust="0"/>
  </p:normalViewPr>
  <p:slideViewPr>
    <p:cSldViewPr showGuides="1">
      <p:cViewPr varScale="1">
        <p:scale>
          <a:sx n="58" d="100"/>
          <a:sy n="58" d="100"/>
        </p:scale>
        <p:origin x="408" y="108"/>
      </p:cViewPr>
      <p:guideLst>
        <p:guide orient="horz" pos="555"/>
        <p:guide pos="7926"/>
        <p:guide pos="10374"/>
        <p:guide pos="5464"/>
        <p:guide pos="626"/>
        <p:guide pos="14908"/>
        <p:guide orient="horz" pos="8036"/>
        <p:guide orient="horz" pos="1800"/>
        <p:guide pos="11249"/>
        <p:guide pos="4269"/>
        <p:guide orient="horz" pos="2551"/>
      </p:guideLst>
    </p:cSldViewPr>
  </p:slideViewPr>
  <p:notesTextViewPr>
    <p:cViewPr>
      <p:scale>
        <a:sx n="66" d="100"/>
        <a:sy n="66" d="100"/>
      </p:scale>
      <p:origin x="0" y="0"/>
    </p:cViewPr>
  </p:notesTextViewPr>
  <p:sorterViewPr>
    <p:cViewPr>
      <p:scale>
        <a:sx n="100" d="100"/>
        <a:sy n="100" d="100"/>
      </p:scale>
      <p:origin x="0" y="-735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6" Type="http://schemas.openxmlformats.org/officeDocument/2006/relationships/commentAuthors" Target="commentAuthors.xml"/><Relationship Id="rId75" Type="http://schemas.openxmlformats.org/officeDocument/2006/relationships/tableStyles" Target="tableStyles.xml"/><Relationship Id="rId74" Type="http://schemas.openxmlformats.org/officeDocument/2006/relationships/viewProps" Target="viewProps.xml"/><Relationship Id="rId73" Type="http://schemas.openxmlformats.org/officeDocument/2006/relationships/presProps" Target="presProps.xml"/><Relationship Id="rId72" Type="http://schemas.openxmlformats.org/officeDocument/2006/relationships/slide" Target="slides/slide69.xml"/><Relationship Id="rId71" Type="http://schemas.openxmlformats.org/officeDocument/2006/relationships/slide" Target="slides/slide68.xml"/><Relationship Id="rId70" Type="http://schemas.openxmlformats.org/officeDocument/2006/relationships/slide" Target="slides/slide67.xml"/><Relationship Id="rId7" Type="http://schemas.openxmlformats.org/officeDocument/2006/relationships/slide" Target="slides/slide4.xml"/><Relationship Id="rId69" Type="http://schemas.openxmlformats.org/officeDocument/2006/relationships/slide" Target="slides/slide66.xml"/><Relationship Id="rId68" Type="http://schemas.openxmlformats.org/officeDocument/2006/relationships/slide" Target="slides/slide65.xml"/><Relationship Id="rId67" Type="http://schemas.openxmlformats.org/officeDocument/2006/relationships/slide" Target="slides/slide64.xml"/><Relationship Id="rId66" Type="http://schemas.openxmlformats.org/officeDocument/2006/relationships/slide" Target="slides/slide63.xml"/><Relationship Id="rId65" Type="http://schemas.openxmlformats.org/officeDocument/2006/relationships/slide" Target="slides/slide62.xml"/><Relationship Id="rId64" Type="http://schemas.openxmlformats.org/officeDocument/2006/relationships/slide" Target="slides/slide61.xml"/><Relationship Id="rId63" Type="http://schemas.openxmlformats.org/officeDocument/2006/relationships/slide" Target="slides/slide60.xml"/><Relationship Id="rId62" Type="http://schemas.openxmlformats.org/officeDocument/2006/relationships/slide" Target="slides/slide59.xml"/><Relationship Id="rId61" Type="http://schemas.openxmlformats.org/officeDocument/2006/relationships/slide" Target="slides/slide58.xml"/><Relationship Id="rId60" Type="http://schemas.openxmlformats.org/officeDocument/2006/relationships/slide" Target="slides/slide57.xml"/><Relationship Id="rId6" Type="http://schemas.openxmlformats.org/officeDocument/2006/relationships/slide" Target="slides/slide3.xml"/><Relationship Id="rId59" Type="http://schemas.openxmlformats.org/officeDocument/2006/relationships/slide" Target="slides/slide56.xml"/><Relationship Id="rId58" Type="http://schemas.openxmlformats.org/officeDocument/2006/relationships/slide" Target="slides/slide55.xml"/><Relationship Id="rId57" Type="http://schemas.openxmlformats.org/officeDocument/2006/relationships/slide" Target="slides/slide54.xml"/><Relationship Id="rId56" Type="http://schemas.openxmlformats.org/officeDocument/2006/relationships/slide" Target="slides/slide53.xml"/><Relationship Id="rId55" Type="http://schemas.openxmlformats.org/officeDocument/2006/relationships/slide" Target="slides/slide52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notesMaster" Target="notesMasters/notesMaster1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slide" Target="slides/slide2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>
            <a:spLocks noGrp="1" noRot="1" noChangeAspect="1"/>
          </p:cNvSpPr>
          <p:nvPr>
            <p:ph type="sldImg" idx="2"/>
          </p:nvPr>
        </p:nvSpPr>
        <p:spPr>
          <a:xfrm>
            <a:off x="336550" y="685800"/>
            <a:ext cx="61849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" name="Shape 3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>
              <a:spcBef>
                <a:spcPts val="0"/>
              </a:spcBef>
              <a:defRPr sz="1100"/>
            </a:lvl1pPr>
            <a:lvl2pPr>
              <a:spcBef>
                <a:spcPts val="0"/>
              </a:spcBef>
              <a:defRPr sz="1100"/>
            </a:lvl2pPr>
            <a:lvl3pPr>
              <a:spcBef>
                <a:spcPts val="0"/>
              </a:spcBef>
              <a:defRPr sz="1100"/>
            </a:lvl3pPr>
            <a:lvl4pPr>
              <a:spcBef>
                <a:spcPts val="0"/>
              </a:spcBef>
              <a:defRPr sz="1100"/>
            </a:lvl4pPr>
            <a:lvl5pPr>
              <a:spcBef>
                <a:spcPts val="0"/>
              </a:spcBef>
              <a:defRPr sz="1100"/>
            </a:lvl5pPr>
            <a:lvl6pPr>
              <a:spcBef>
                <a:spcPts val="0"/>
              </a:spcBef>
              <a:defRPr sz="1100"/>
            </a:lvl6pPr>
            <a:lvl7pPr>
              <a:spcBef>
                <a:spcPts val="0"/>
              </a:spcBef>
              <a:defRPr sz="1100"/>
            </a:lvl7pPr>
            <a:lvl8pPr>
              <a:spcBef>
                <a:spcPts val="0"/>
              </a:spcBef>
              <a:defRPr sz="1100"/>
            </a:lvl8pPr>
            <a:lvl9pPr>
              <a:spcBef>
                <a:spcPts val="0"/>
              </a:spcBef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1pPr>
    <a:lvl2pPr marL="1230630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2pPr>
    <a:lvl3pPr marL="2460625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3pPr>
    <a:lvl4pPr marL="3691255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4pPr>
    <a:lvl5pPr marL="4921885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5pPr>
    <a:lvl6pPr marL="6152515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6pPr>
    <a:lvl7pPr marL="7382510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7pPr>
    <a:lvl8pPr marL="8613140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8pPr>
    <a:lvl9pPr marL="9843770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7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Shape 115"/>
          <p:cNvSpPr>
            <a:spLocks noGrp="1" noRot="1" noChangeAspect="1"/>
          </p:cNvSpPr>
          <p:nvPr>
            <p:ph type="sldImg" idx="2"/>
          </p:nvPr>
        </p:nvSpPr>
        <p:spPr>
          <a:xfrm>
            <a:off x="336550" y="685800"/>
            <a:ext cx="61849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16" name="Shape 11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  <a:buNone/>
            </a:p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Shape 115"/>
          <p:cNvSpPr>
            <a:spLocks noGrp="1" noRot="1" noChangeAspect="1"/>
          </p:cNvSpPr>
          <p:nvPr>
            <p:ph type="sldImg" idx="2"/>
          </p:nvPr>
        </p:nvSpPr>
        <p:spPr>
          <a:xfrm>
            <a:off x="336550" y="685800"/>
            <a:ext cx="61849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16" name="Shape 11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  <a:buNone/>
            </a:p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Shape 115"/>
          <p:cNvSpPr>
            <a:spLocks noGrp="1" noRot="1" noChangeAspect="1"/>
          </p:cNvSpPr>
          <p:nvPr>
            <p:ph type="sldImg" idx="2"/>
          </p:nvPr>
        </p:nvSpPr>
        <p:spPr>
          <a:xfrm>
            <a:off x="336550" y="685800"/>
            <a:ext cx="61849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16" name="Shape 11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  <a:buNone/>
            </a:p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Shape 115"/>
          <p:cNvSpPr>
            <a:spLocks noGrp="1" noRot="1" noChangeAspect="1"/>
          </p:cNvSpPr>
          <p:nvPr>
            <p:ph type="sldImg" idx="2"/>
          </p:nvPr>
        </p:nvSpPr>
        <p:spPr>
          <a:xfrm>
            <a:off x="336550" y="685800"/>
            <a:ext cx="61849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16" name="Shape 11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  <a:buNone/>
            </a:p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>
            <a:spLocks noGrp="1"/>
          </p:cNvSpPr>
          <p:nvPr>
            <p:ph type="subTitle" idx="1"/>
          </p:nvPr>
        </p:nvSpPr>
        <p:spPr>
          <a:xfrm>
            <a:off x="843437" y="7768736"/>
            <a:ext cx="23055913" cy="3121712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5000" b="1" i="0" u="none" strike="noStrike" cap="none" baseline="0" dirty="0">
                <a:solidFill>
                  <a:srgbClr val="0072BC"/>
                </a:solidFill>
                <a:latin typeface="+mj-lt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9pPr>
          </a:lstStyle>
          <a:p>
            <a:endParaRPr dirty="0"/>
          </a:p>
        </p:txBody>
      </p:sp>
      <p:sp>
        <p:nvSpPr>
          <p:cNvPr id="9" name="Shape 9"/>
          <p:cNvSpPr txBox="1">
            <a:spLocks noGrp="1"/>
          </p:cNvSpPr>
          <p:nvPr>
            <p:ph type="ctrTitle"/>
          </p:nvPr>
        </p:nvSpPr>
        <p:spPr>
          <a:xfrm>
            <a:off x="843456" y="2753544"/>
            <a:ext cx="23055913" cy="4464497"/>
          </a:xfrm>
          <a:prstGeom prst="rect">
            <a:avLst/>
          </a:prstGeom>
        </p:spPr>
        <p:txBody>
          <a:bodyPr lIns="91425" tIns="91425" rIns="91425" bIns="91425" anchor="b" anchorCtr="0"/>
          <a:lstStyle>
            <a:lvl1pPr algn="ctr">
              <a:spcBef>
                <a:spcPts val="0"/>
              </a:spcBef>
              <a:buSzPct val="100000"/>
              <a:defRPr sz="13000" b="1" i="0" u="none" strike="noStrike" cap="none" baseline="0" dirty="0">
                <a:solidFill>
                  <a:srgbClr val="0072BC"/>
                </a:solidFill>
                <a:latin typeface="+mj-lt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  <a:lvl2pPr algn="ctr">
              <a:spcBef>
                <a:spcPts val="0"/>
              </a:spcBef>
              <a:buSzPct val="100000"/>
              <a:defRPr sz="13865"/>
            </a:lvl2pPr>
            <a:lvl3pPr algn="ctr">
              <a:spcBef>
                <a:spcPts val="0"/>
              </a:spcBef>
              <a:buSzPct val="100000"/>
              <a:defRPr sz="13865"/>
            </a:lvl3pPr>
            <a:lvl4pPr algn="ctr">
              <a:spcBef>
                <a:spcPts val="0"/>
              </a:spcBef>
              <a:buSzPct val="100000"/>
              <a:defRPr sz="13865"/>
            </a:lvl4pPr>
            <a:lvl5pPr algn="ctr">
              <a:spcBef>
                <a:spcPts val="0"/>
              </a:spcBef>
              <a:buSzPct val="100000"/>
              <a:defRPr sz="13865"/>
            </a:lvl5pPr>
            <a:lvl6pPr algn="ctr">
              <a:spcBef>
                <a:spcPts val="0"/>
              </a:spcBef>
              <a:buSzPct val="100000"/>
              <a:defRPr sz="13865"/>
            </a:lvl6pPr>
            <a:lvl7pPr algn="ctr">
              <a:spcBef>
                <a:spcPts val="0"/>
              </a:spcBef>
              <a:buSzPct val="100000"/>
              <a:defRPr sz="13865"/>
            </a:lvl7pPr>
            <a:lvl8pPr algn="ctr">
              <a:spcBef>
                <a:spcPts val="0"/>
              </a:spcBef>
              <a:buSzPct val="100000"/>
              <a:defRPr sz="13865"/>
            </a:lvl8pPr>
            <a:lvl9pPr algn="ctr">
              <a:spcBef>
                <a:spcPts val="0"/>
              </a:spcBef>
              <a:buSzPct val="100000"/>
              <a:defRPr sz="13865"/>
            </a:lvl9pPr>
          </a:lstStyle>
          <a:p>
            <a:endParaRPr dirty="0"/>
          </a:p>
        </p:txBody>
      </p:sp>
      <p:sp>
        <p:nvSpPr>
          <p:cNvPr id="11" name="Shape 11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algn="r"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13"/>
          <p:cNvSpPr txBox="1">
            <a:spLocks noGrp="1"/>
          </p:cNvSpPr>
          <p:nvPr>
            <p:ph type="title"/>
          </p:nvPr>
        </p:nvSpPr>
        <p:spPr>
          <a:xfrm>
            <a:off x="843437" y="5705872"/>
            <a:ext cx="23055913" cy="2244800"/>
          </a:xfrm>
          <a:prstGeom prst="rect">
            <a:avLst/>
          </a:prstGeom>
        </p:spPr>
        <p:txBody>
          <a:bodyPr lIns="91425" tIns="91425" rIns="91425" bIns="91425" anchor="ctr" anchorCtr="0"/>
          <a:lstStyle>
            <a:lvl1pPr algn="ctr">
              <a:spcBef>
                <a:spcPts val="0"/>
              </a:spcBef>
              <a:buSzPct val="100000"/>
              <a:defRPr sz="8500" b="1" i="0" u="none" strike="noStrike" cap="none" baseline="0" dirty="0">
                <a:solidFill>
                  <a:srgbClr val="0072BC"/>
                </a:solidFill>
                <a:latin typeface="+mj-lt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  <a:lvl2pPr algn="ctr">
              <a:spcBef>
                <a:spcPts val="0"/>
              </a:spcBef>
              <a:buSzPct val="100000"/>
              <a:defRPr sz="9600"/>
            </a:lvl2pPr>
            <a:lvl3pPr algn="ctr">
              <a:spcBef>
                <a:spcPts val="0"/>
              </a:spcBef>
              <a:buSzPct val="100000"/>
              <a:defRPr sz="9600"/>
            </a:lvl3pPr>
            <a:lvl4pPr algn="ctr">
              <a:spcBef>
                <a:spcPts val="0"/>
              </a:spcBef>
              <a:buSzPct val="100000"/>
              <a:defRPr sz="9600"/>
            </a:lvl4pPr>
            <a:lvl5pPr algn="ctr">
              <a:spcBef>
                <a:spcPts val="0"/>
              </a:spcBef>
              <a:buSzPct val="100000"/>
              <a:defRPr sz="9600"/>
            </a:lvl5pPr>
            <a:lvl6pPr algn="ctr">
              <a:spcBef>
                <a:spcPts val="0"/>
              </a:spcBef>
              <a:buSzPct val="100000"/>
              <a:defRPr sz="9600"/>
            </a:lvl6pPr>
            <a:lvl7pPr algn="ctr">
              <a:spcBef>
                <a:spcPts val="0"/>
              </a:spcBef>
              <a:buSzPct val="100000"/>
              <a:defRPr sz="9600"/>
            </a:lvl7pPr>
            <a:lvl8pPr algn="ctr">
              <a:spcBef>
                <a:spcPts val="0"/>
              </a:spcBef>
              <a:buSzPct val="100000"/>
              <a:defRPr sz="9600"/>
            </a:lvl8pPr>
            <a:lvl9pPr algn="ctr">
              <a:spcBef>
                <a:spcPts val="0"/>
              </a:spcBef>
              <a:buSzPct val="100000"/>
              <a:defRPr sz="9600"/>
            </a:lvl9pPr>
          </a:lstStyle>
          <a:p>
            <a:endParaRPr dirty="0"/>
          </a:p>
        </p:txBody>
      </p:sp>
      <p:sp>
        <p:nvSpPr>
          <p:cNvPr id="14" name="Shape 14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algn="r"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79931" y="557213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7119574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8" name="Shape 17"/>
          <p:cNvSpPr txBox="1">
            <a:spLocks noGrp="1"/>
          </p:cNvSpPr>
          <p:nvPr>
            <p:ph type="body" idx="13"/>
          </p:nvPr>
        </p:nvSpPr>
        <p:spPr>
          <a:xfrm>
            <a:off x="8577823" y="3905250"/>
            <a:ext cx="7119574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9" name="Shape 17"/>
          <p:cNvSpPr txBox="1">
            <a:spLocks noGrp="1"/>
          </p:cNvSpPr>
          <p:nvPr>
            <p:ph type="body" idx="14"/>
          </p:nvPr>
        </p:nvSpPr>
        <p:spPr>
          <a:xfrm>
            <a:off x="16224001" y="3905250"/>
            <a:ext cx="7119574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78661" y="560919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7119574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82469" y="560160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10791982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5" name="Shape 17"/>
          <p:cNvSpPr txBox="1">
            <a:spLocks noGrp="1"/>
          </p:cNvSpPr>
          <p:nvPr>
            <p:ph type="body" idx="13"/>
          </p:nvPr>
        </p:nvSpPr>
        <p:spPr>
          <a:xfrm>
            <a:off x="12235755" y="3905250"/>
            <a:ext cx="10791982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82469" y="560160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10791982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82469" y="560160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83251" y="560160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5317067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5" name="Shape 17"/>
          <p:cNvSpPr txBox="1">
            <a:spLocks noGrp="1"/>
          </p:cNvSpPr>
          <p:nvPr>
            <p:ph type="body" idx="13"/>
          </p:nvPr>
        </p:nvSpPr>
        <p:spPr>
          <a:xfrm>
            <a:off x="12257658" y="3905250"/>
            <a:ext cx="5320208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SzPct val="100000"/>
              <a:buNone/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0" name="Shape 17"/>
          <p:cNvSpPr txBox="1">
            <a:spLocks noGrp="1"/>
          </p:cNvSpPr>
          <p:nvPr>
            <p:ph type="body" idx="14"/>
          </p:nvPr>
        </p:nvSpPr>
        <p:spPr>
          <a:xfrm>
            <a:off x="6603504" y="3905250"/>
            <a:ext cx="5317067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1" name="Shape 17"/>
          <p:cNvSpPr txBox="1">
            <a:spLocks noGrp="1"/>
          </p:cNvSpPr>
          <p:nvPr>
            <p:ph type="body" idx="15"/>
          </p:nvPr>
        </p:nvSpPr>
        <p:spPr>
          <a:xfrm>
            <a:off x="17892761" y="3905250"/>
            <a:ext cx="5320208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SzPct val="100000"/>
              <a:buNone/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2"/>
          <p:cNvSpPr>
            <a:spLocks noGrp="1"/>
          </p:cNvSpPr>
          <p:nvPr>
            <p:ph type="pic" idx="13"/>
          </p:nvPr>
        </p:nvSpPr>
        <p:spPr>
          <a:xfrm>
            <a:off x="8690595" y="4081463"/>
            <a:ext cx="7244730" cy="57917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13" name="Рисунок 2"/>
          <p:cNvSpPr>
            <a:spLocks noGrp="1"/>
          </p:cNvSpPr>
          <p:nvPr>
            <p:ph type="pic" idx="15"/>
          </p:nvPr>
        </p:nvSpPr>
        <p:spPr>
          <a:xfrm>
            <a:off x="16352395" y="4081463"/>
            <a:ext cx="7244730" cy="57917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 dirty="0"/>
          </a:p>
        </p:txBody>
      </p:sp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79931" y="557213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7119574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2" name="Shape 17"/>
          <p:cNvSpPr txBox="1">
            <a:spLocks noGrp="1"/>
          </p:cNvSpPr>
          <p:nvPr>
            <p:ph type="body" idx="14"/>
          </p:nvPr>
        </p:nvSpPr>
        <p:spPr>
          <a:xfrm>
            <a:off x="8580486" y="10029025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4" name="Shape 17"/>
          <p:cNvSpPr txBox="1">
            <a:spLocks noGrp="1"/>
          </p:cNvSpPr>
          <p:nvPr>
            <p:ph type="body" idx="16"/>
          </p:nvPr>
        </p:nvSpPr>
        <p:spPr>
          <a:xfrm>
            <a:off x="16242286" y="10029025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Рисунок 2"/>
          <p:cNvSpPr>
            <a:spLocks noGrp="1"/>
          </p:cNvSpPr>
          <p:nvPr>
            <p:ph type="pic" idx="19"/>
          </p:nvPr>
        </p:nvSpPr>
        <p:spPr>
          <a:xfrm>
            <a:off x="18017851" y="8226152"/>
            <a:ext cx="5233019" cy="31384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3" name="Рисунок 2"/>
          <p:cNvSpPr>
            <a:spLocks noGrp="1"/>
          </p:cNvSpPr>
          <p:nvPr>
            <p:ph type="pic" idx="20"/>
          </p:nvPr>
        </p:nvSpPr>
        <p:spPr>
          <a:xfrm>
            <a:off x="12371387" y="8226152"/>
            <a:ext cx="5233019" cy="31384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4" name="Рисунок 2"/>
          <p:cNvSpPr>
            <a:spLocks noGrp="1"/>
          </p:cNvSpPr>
          <p:nvPr>
            <p:ph type="pic" idx="21"/>
          </p:nvPr>
        </p:nvSpPr>
        <p:spPr>
          <a:xfrm>
            <a:off x="6720856" y="8226152"/>
            <a:ext cx="5233019" cy="31384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37" name="Рисунок 2"/>
          <p:cNvSpPr>
            <a:spLocks noGrp="1"/>
          </p:cNvSpPr>
          <p:nvPr>
            <p:ph type="pic" idx="17"/>
          </p:nvPr>
        </p:nvSpPr>
        <p:spPr>
          <a:xfrm>
            <a:off x="18017851" y="4090987"/>
            <a:ext cx="5233019" cy="31384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35" name="Рисунок 2"/>
          <p:cNvSpPr>
            <a:spLocks noGrp="1"/>
          </p:cNvSpPr>
          <p:nvPr>
            <p:ph type="pic" idx="15"/>
          </p:nvPr>
        </p:nvSpPr>
        <p:spPr>
          <a:xfrm>
            <a:off x="12371387" y="4090987"/>
            <a:ext cx="5233019" cy="31384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25" name="Рисунок 2"/>
          <p:cNvSpPr>
            <a:spLocks noGrp="1"/>
          </p:cNvSpPr>
          <p:nvPr>
            <p:ph type="pic" idx="13"/>
          </p:nvPr>
        </p:nvSpPr>
        <p:spPr>
          <a:xfrm>
            <a:off x="6720856" y="4090987"/>
            <a:ext cx="5233019" cy="31384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83251" y="560160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5317067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20" name="Shape 17"/>
          <p:cNvSpPr txBox="1">
            <a:spLocks noGrp="1"/>
          </p:cNvSpPr>
          <p:nvPr>
            <p:ph type="body" idx="14"/>
          </p:nvPr>
        </p:nvSpPr>
        <p:spPr>
          <a:xfrm>
            <a:off x="6610747" y="7385298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36" name="Shape 17"/>
          <p:cNvSpPr txBox="1">
            <a:spLocks noGrp="1"/>
          </p:cNvSpPr>
          <p:nvPr>
            <p:ph type="body" idx="16"/>
          </p:nvPr>
        </p:nvSpPr>
        <p:spPr>
          <a:xfrm>
            <a:off x="12261278" y="7385298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38" name="Shape 17"/>
          <p:cNvSpPr txBox="1">
            <a:spLocks noGrp="1"/>
          </p:cNvSpPr>
          <p:nvPr>
            <p:ph type="body" idx="18"/>
          </p:nvPr>
        </p:nvSpPr>
        <p:spPr>
          <a:xfrm>
            <a:off x="17907742" y="7385298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45" name="Shape 17"/>
          <p:cNvSpPr txBox="1">
            <a:spLocks noGrp="1"/>
          </p:cNvSpPr>
          <p:nvPr>
            <p:ph type="body" idx="22"/>
          </p:nvPr>
        </p:nvSpPr>
        <p:spPr>
          <a:xfrm>
            <a:off x="6610747" y="11520463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46" name="Shape 17"/>
          <p:cNvSpPr txBox="1">
            <a:spLocks noGrp="1"/>
          </p:cNvSpPr>
          <p:nvPr>
            <p:ph type="body" idx="23"/>
          </p:nvPr>
        </p:nvSpPr>
        <p:spPr>
          <a:xfrm>
            <a:off x="12261278" y="11520463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47" name="Shape 17"/>
          <p:cNvSpPr txBox="1">
            <a:spLocks noGrp="1"/>
          </p:cNvSpPr>
          <p:nvPr>
            <p:ph type="body" idx="24"/>
          </p:nvPr>
        </p:nvSpPr>
        <p:spPr>
          <a:xfrm>
            <a:off x="17907742" y="11520463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Рисунок 2"/>
          <p:cNvSpPr>
            <a:spLocks noGrp="1"/>
          </p:cNvSpPr>
          <p:nvPr>
            <p:ph type="pic" idx="20"/>
          </p:nvPr>
        </p:nvSpPr>
        <p:spPr>
          <a:xfrm>
            <a:off x="12371387" y="4084320"/>
            <a:ext cx="5226744" cy="728031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4" name="Рисунок 2"/>
          <p:cNvSpPr>
            <a:spLocks noGrp="1"/>
          </p:cNvSpPr>
          <p:nvPr>
            <p:ph type="pic" idx="21"/>
          </p:nvPr>
        </p:nvSpPr>
        <p:spPr>
          <a:xfrm>
            <a:off x="6720856" y="4084320"/>
            <a:ext cx="5226744" cy="728031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2" name="Рисунок 2"/>
          <p:cNvSpPr>
            <a:spLocks noGrp="1"/>
          </p:cNvSpPr>
          <p:nvPr>
            <p:ph type="pic" idx="19"/>
          </p:nvPr>
        </p:nvSpPr>
        <p:spPr>
          <a:xfrm>
            <a:off x="18017851" y="4084320"/>
            <a:ext cx="5226744" cy="728031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83251" y="560160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5317067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45" name="Shape 17"/>
          <p:cNvSpPr txBox="1">
            <a:spLocks noGrp="1"/>
          </p:cNvSpPr>
          <p:nvPr>
            <p:ph type="body" idx="22"/>
          </p:nvPr>
        </p:nvSpPr>
        <p:spPr>
          <a:xfrm>
            <a:off x="6610747" y="11520463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46" name="Shape 17"/>
          <p:cNvSpPr txBox="1">
            <a:spLocks noGrp="1"/>
          </p:cNvSpPr>
          <p:nvPr>
            <p:ph type="body" idx="23"/>
          </p:nvPr>
        </p:nvSpPr>
        <p:spPr>
          <a:xfrm>
            <a:off x="12261278" y="11520463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47" name="Shape 17"/>
          <p:cNvSpPr txBox="1">
            <a:spLocks noGrp="1"/>
          </p:cNvSpPr>
          <p:nvPr>
            <p:ph type="body" idx="24"/>
          </p:nvPr>
        </p:nvSpPr>
        <p:spPr>
          <a:xfrm>
            <a:off x="17907742" y="11520463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571388" y="720000"/>
            <a:ext cx="21600000" cy="1440000"/>
          </a:xfrm>
        </p:spPr>
        <p:txBody>
          <a:bodyPr lIns="0" tIns="0" rIns="0" bIns="0"/>
          <a:lstStyle>
            <a:lvl1pPr algn="ctr" fontAlgn="base">
              <a:defRPr sz="64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</a:lstStyle>
          <a:p>
            <a:r>
              <a:rPr lang="en-US" dirty="0"/>
              <a:t>Click to add title</a:t>
            </a:r>
            <a:endParaRPr 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1403388" y="12628800"/>
            <a:ext cx="5400000" cy="633600"/>
          </a:xfrm>
        </p:spPr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8411388" y="12628800"/>
            <a:ext cx="7920000" cy="633600"/>
          </a:xfrm>
        </p:spPr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5"/>
          <p:cNvSpPr txBox="1">
            <a:spLocks noGrp="1"/>
          </p:cNvSpPr>
          <p:nvPr>
            <p:ph type="title"/>
          </p:nvPr>
        </p:nvSpPr>
        <p:spPr>
          <a:xfrm>
            <a:off x="843437" y="1186742"/>
            <a:ext cx="23055913" cy="1527197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" name="Shape 6"/>
          <p:cNvSpPr txBox="1">
            <a:spLocks noGrp="1"/>
          </p:cNvSpPr>
          <p:nvPr>
            <p:ph type="body" idx="1"/>
          </p:nvPr>
        </p:nvSpPr>
        <p:spPr>
          <a:xfrm>
            <a:off x="843437" y="3073267"/>
            <a:ext cx="23055913" cy="91104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SzPct val="100000"/>
              <a:defRPr sz="1800">
                <a:solidFill>
                  <a:schemeClr val="dk2"/>
                </a:solidFill>
              </a:defRPr>
            </a:lvl1pPr>
            <a:lvl2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2pPr>
            <a:lvl3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3pPr>
            <a:lvl4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4pPr>
            <a:lvl5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5pPr>
            <a:lvl6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6pPr>
            <a:lvl7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7pPr>
            <a:lvl8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8pPr>
            <a:lvl9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7" name="Shape 7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algn="r"/>
            <a:fld id="{00000000-1234-1234-1234-123412341234}" type="slidenum">
              <a:rPr lang="en-US" sz="2665" smtClean="0">
                <a:solidFill>
                  <a:schemeClr val="dk2"/>
                </a:solidFill>
              </a:rPr>
            </a:fld>
            <a:endParaRPr lang="en-US" sz="2665">
              <a:solidFill>
                <a:schemeClr val="dk2"/>
              </a:solidFill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  <p:hf hdr="0" ftr="0" dt="0"/>
  <p:txStyles>
    <p:title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</p:titleStyle>
    <p:body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заголовок 1"/>
          <p:cNvSpPr>
            <a:spLocks noGrp="1"/>
          </p:cNvSpPr>
          <p:nvPr>
            <p:ph type="subTitle" idx="1"/>
          </p:nvPr>
        </p:nvSpPr>
        <p:spPr>
          <a:xfrm>
            <a:off x="11722735" y="11754485"/>
            <a:ext cx="12978130" cy="1567815"/>
          </a:xfrm>
        </p:spPr>
        <p:txBody>
          <a:bodyPr/>
          <a:lstStyle/>
          <a:p>
            <a:r>
              <a:rPr lang="ru-RU" dirty="0" smtClean="0">
                <a:solidFill>
                  <a:schemeClr val="bg1"/>
                </a:solidFill>
              </a:rPr>
              <a:t>Докладчик: Евграфов Михаил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/>
          <p:cNvSpPr>
            <a:spLocks noGrp="1"/>
          </p:cNvSpPr>
          <p:nvPr>
            <p:ph type="ctrTitle"/>
          </p:nvPr>
        </p:nvSpPr>
        <p:spPr>
          <a:xfrm>
            <a:off x="6971665" y="4625975"/>
            <a:ext cx="10799445" cy="3595370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ru-RU" altLang="en-US" sz="9600" dirty="0">
                <a:solidFill>
                  <a:schemeClr val="bg1"/>
                </a:solidFill>
              </a:rPr>
              <a:t>П</a:t>
            </a:r>
            <a:r>
              <a:rPr lang="ru-RU" sz="9600" dirty="0">
                <a:solidFill>
                  <a:schemeClr val="bg1"/>
                </a:solidFill>
              </a:rPr>
              <a:t>ротоколы в </a:t>
            </a:r>
            <a:r>
              <a:rPr lang="en-US" sz="9600" dirty="0">
                <a:solidFill>
                  <a:schemeClr val="bg1"/>
                </a:solidFill>
              </a:rPr>
              <a:t>Python</a:t>
            </a:r>
            <a:endParaRPr lang="en-US" sz="9600" dirty="0">
              <a:solidFill>
                <a:schemeClr val="bg1"/>
              </a:solidFill>
            </a:endParaRPr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28371" y="1025352"/>
            <a:ext cx="2437777" cy="738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113"/>
          <p:cNvSpPr txBox="1">
            <a:spLocks noGrp="1"/>
          </p:cNvSpPr>
          <p:nvPr>
            <p:ph type="title"/>
          </p:nvPr>
        </p:nvSpPr>
        <p:spPr>
          <a:xfrm>
            <a:off x="4387215" y="4049395"/>
            <a:ext cx="15968345" cy="2795905"/>
          </a:xfrm>
          <a:prstGeom prst="rect">
            <a:avLst/>
          </a:prstGeom>
        </p:spPr>
        <p:txBody>
          <a:bodyPr lIns="243800" tIns="243800" rIns="243800" bIns="243800" anchor="ctr" anchorCtr="0">
            <a:noAutofit/>
          </a:bodyPr>
          <a:lstStyle/>
          <a:p>
            <a:pPr algn="ctr"/>
            <a:r>
              <a:rPr lang="ru-RU" altLang="ru-RU" sz="8535" dirty="0" smtClean="0">
                <a:solidFill>
                  <a:schemeClr val="bg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Абстракции и протоколы</a:t>
            </a:r>
            <a:endParaRPr lang="ru-RU" altLang="ru-RU" sz="8535" dirty="0" smtClean="0">
              <a:solidFill>
                <a:schemeClr val="bg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00000000-1234-1234-1234-123412341234}" type="slidenum">
              <a:rPr lang="en-US" sz="2800" b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fld>
            <a:endParaRPr lang="en-US" sz="28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7" name="Picture 3" descr="C:\Users\Давыдовы\dwhelper\_ФРИЛАНС\МФТИ\Преза ОИ\logo_whit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92603" y="1025352"/>
            <a:ext cx="2016029" cy="731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Группа 2"/>
          <p:cNvGrpSpPr/>
          <p:nvPr/>
        </p:nvGrpSpPr>
        <p:grpSpPr>
          <a:xfrm>
            <a:off x="1137920" y="12258675"/>
            <a:ext cx="1107378" cy="297180"/>
            <a:chOff x="658813" y="5548708"/>
            <a:chExt cx="712787" cy="189326"/>
          </a:xfrm>
        </p:grpSpPr>
        <p:sp>
          <p:nvSpPr>
            <p:cNvPr id="4" name="Овал 3"/>
            <p:cNvSpPr/>
            <p:nvPr/>
          </p:nvSpPr>
          <p:spPr>
            <a:xfrm>
              <a:off x="658813" y="5548708"/>
              <a:ext cx="189326" cy="189326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/>
            </a:p>
          </p:txBody>
        </p:sp>
        <p:sp>
          <p:nvSpPr>
            <p:cNvPr id="5" name="Овал 4"/>
            <p:cNvSpPr/>
            <p:nvPr/>
          </p:nvSpPr>
          <p:spPr>
            <a:xfrm>
              <a:off x="1182274" y="5548708"/>
              <a:ext cx="189326" cy="189326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/>
            </a:p>
          </p:txBody>
        </p:sp>
      </p:grpSp>
      <p:sp>
        <p:nvSpPr>
          <p:cNvPr id="6" name="Овал 5"/>
          <p:cNvSpPr/>
          <p:nvPr/>
        </p:nvSpPr>
        <p:spPr>
          <a:xfrm>
            <a:off x="2722053" y="12258675"/>
            <a:ext cx="294135" cy="29718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3492943" y="12258675"/>
            <a:ext cx="294135" cy="29718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383601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Проблеманя функция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4121785"/>
            <a:ext cx="22044660" cy="51288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print_geometric_shape_info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"area: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get_area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"perimeter: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get_perimeter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592897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Геометрические фигуры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745" y="2537460"/>
            <a:ext cx="16560165" cy="92494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from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dataclasses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dataclass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@dataclass</a:t>
            </a:r>
            <a:endParaRPr lang="en-US" altLang="ru-RU" sz="48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Rectangle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length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width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get_area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length 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width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get_perimeter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length 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+ 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width</a:t>
            </a:r>
            <a:endParaRPr lang="en-US" altLang="ru-RU" sz="4800">
              <a:solidFill>
                <a:schemeClr val="accent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592897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Геометрические фигуры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745" y="2537460"/>
            <a:ext cx="16560165" cy="92494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from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dataclasses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dataclass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@dataclass</a:t>
            </a:r>
            <a:endParaRPr lang="en-US" altLang="ru-RU" sz="48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Square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side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get_area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side 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** 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get_perimeter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4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side</a:t>
            </a:r>
            <a:endParaRPr lang="en-US" altLang="ru-RU" sz="4800">
              <a:solidFill>
                <a:schemeClr val="accent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592897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Используем функцию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745" y="2033270"/>
            <a:ext cx="16560165" cy="104286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Rectangle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width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length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Square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side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4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48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print_geometric_shape_info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area: 6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perimeter: 10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area: 16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perimeter: 16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093533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В чем проблема?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393315"/>
            <a:ext cx="22044660" cy="4646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print_geometric_shape_info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"area: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get_area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"perimeter: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get_perimeter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3" name="Текстовое поле 2"/>
          <p:cNvSpPr txBox="1"/>
          <p:nvPr/>
        </p:nvSpPr>
        <p:spPr>
          <a:xfrm>
            <a:off x="880110" y="2393950"/>
            <a:ext cx="22044660" cy="4646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print_geometric_shape_info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-&gt;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rgbClr val="E3C496"/>
                </a:solidFill>
                <a:latin typeface="Consolas" panose="020B0609020204030204" charset="0"/>
                <a:cs typeface="Consolas" panose="020B0609020204030204" charset="0"/>
              </a:rPr>
              <a:t>"area: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rgbClr val="BCD6FD"/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54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get_area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()}</a:t>
            </a:r>
            <a:r>
              <a:rPr lang="en-US" altLang="ru-RU" sz="5400">
                <a:solidFill>
                  <a:srgbClr val="E3C496"/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rgbClr val="E3C496"/>
                </a:solidFill>
                <a:latin typeface="Consolas" panose="020B0609020204030204" charset="0"/>
                <a:cs typeface="Consolas" panose="020B0609020204030204" charset="0"/>
              </a:rPr>
              <a:t>"perimeter: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rgbClr val="BCD6FD"/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54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get_perimeter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()}</a:t>
            </a:r>
            <a:r>
              <a:rPr lang="en-US" altLang="ru-RU" sz="5400">
                <a:solidFill>
                  <a:srgbClr val="E3C496"/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accent1">
                  <a:lumMod val="20000"/>
                  <a:lumOff val="8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cxnSp>
        <p:nvCxnSpPr>
          <p:cNvPr id="5" name="Прямая со стрелкой 4"/>
          <p:cNvCxnSpPr/>
          <p:nvPr/>
        </p:nvCxnSpPr>
        <p:spPr>
          <a:xfrm flipV="1">
            <a:off x="12371705" y="6786245"/>
            <a:ext cx="0" cy="1583690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Текстовое поле 6"/>
          <p:cNvSpPr txBox="1"/>
          <p:nvPr/>
        </p:nvSpPr>
        <p:spPr>
          <a:xfrm>
            <a:off x="3802380" y="8359775"/>
            <a:ext cx="17216120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60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пользователи знают только сигнатуру</a:t>
            </a:r>
            <a:endParaRPr lang="ru-RU" altLang="en-US" sz="60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6" grpId="1"/>
      <p:bldP spid="3" grpId="0"/>
      <p:bldP spid="3" grpId="1"/>
      <p:bldP spid="7" grpId="0"/>
      <p:bldP spid="7" grpId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093533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Последствия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745" y="2033270"/>
            <a:ext cx="15100300" cy="103378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math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from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dataclasses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dataclass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@dataclass</a:t>
            </a:r>
            <a:endParaRPr lang="en-US" altLang="ru-RU" sz="48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Circle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radius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property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area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math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pi 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radius 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** 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ru-RU" altLang="en-US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property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perimeter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math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pi 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radius</a:t>
            </a:r>
            <a:endParaRPr lang="en-US" altLang="ru-RU" sz="4800">
              <a:solidFill>
                <a:schemeClr val="accent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110043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А вот и проблема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745" y="2033270"/>
            <a:ext cx="20061555" cy="104286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Rectangle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width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length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Circle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radius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4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48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print_geometric_shape_info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area: 6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perimeter: 10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ru-RU" altLang="en-US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ru-RU" altLang="en-US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AttributeError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'Circle' object has no attribute 'get_area'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cxnSp>
        <p:nvCxnSpPr>
          <p:cNvPr id="5" name="Прямая со стрелкой 4"/>
          <p:cNvCxnSpPr/>
          <p:nvPr/>
        </p:nvCxnSpPr>
        <p:spPr>
          <a:xfrm flipH="1">
            <a:off x="9203055" y="6137910"/>
            <a:ext cx="6696710" cy="635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Текстовое поле 6"/>
          <p:cNvSpPr txBox="1"/>
          <p:nvPr/>
        </p:nvSpPr>
        <p:spPr>
          <a:xfrm>
            <a:off x="16187420" y="4984750"/>
            <a:ext cx="6325235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функция не умеет работать с этим объектом</a:t>
            </a:r>
            <a:endParaRPr lang="ru-RU" altLang="en-US" sz="48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8" name="Текстовое поле 7"/>
          <p:cNvSpPr txBox="1"/>
          <p:nvPr/>
        </p:nvSpPr>
        <p:spPr>
          <a:xfrm>
            <a:off x="16115665" y="2312670"/>
            <a:ext cx="6325235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но откуда пользователю это знать?</a:t>
            </a:r>
            <a:endParaRPr lang="ru-RU" altLang="en-US" sz="48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8" grpId="0"/>
      <p:bldP spid="8" grpId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3737590" cy="1755140"/>
          </a:xfrm>
        </p:spPr>
        <p:txBody>
          <a:bodyPr/>
          <a:lstStyle/>
          <a:p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Абстрактные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 </a:t>
            </a:r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классы</a:t>
            </a:r>
            <a:endParaRPr lang="en-US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745" y="2393315"/>
            <a:ext cx="14314805" cy="94297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abc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ObjectWithArea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abc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ABC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abc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abstractmethod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get_area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raise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NotImplementedError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ObjectWithPerimeter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abc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ABC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abc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abstractmethod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get_perimeter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raise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NotImplementedError</a:t>
            </a:r>
            <a:endParaRPr lang="en-US" altLang="ru-RU" sz="5400">
              <a:solidFill>
                <a:schemeClr val="accent1">
                  <a:lumMod val="60000"/>
                  <a:lumOff val="4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3737590" cy="1755140"/>
          </a:xfrm>
        </p:spPr>
        <p:txBody>
          <a:bodyPr/>
          <a:lstStyle/>
          <a:p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Абстрактные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 </a:t>
            </a:r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классы</a:t>
            </a:r>
            <a:endParaRPr lang="en-US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745" y="2249170"/>
            <a:ext cx="15911830" cy="98901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abc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ObjectWithArea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abc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ABC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ru-RU" altLang="en-US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ObjectWithPerimeter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abc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ABC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ru-RU" altLang="en-US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ru-RU" altLang="en-US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ru-RU" altLang="en-US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GeometricShape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ObjectWithArea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ObjectWithPerimeter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...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1385550" cy="1755140"/>
          </a:xfrm>
        </p:spPr>
        <p:txBody>
          <a:bodyPr/>
          <a:lstStyle/>
          <a:p>
            <a:r>
              <a:rPr lang="ru-RU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Инстанцирование</a:t>
            </a:r>
            <a:endParaRPr lang="ru-RU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745" y="3481070"/>
            <a:ext cx="18108295" cy="72624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object_with_area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ObjectWithArea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ru-RU" altLang="en-US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ru-RU" altLang="en-US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TypeError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Can't instantiate abstract class</a:t>
            </a:r>
            <a:r>
              <a:rPr lang="ru-RU" altLang="en-US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...</a:t>
            </a:r>
            <a:endParaRPr lang="ru-RU" altLang="en-US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ru-RU" altLang="en-US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ru-RU" altLang="en-US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object_with_perimeter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ObjectWithPerimeter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ru-RU" altLang="en-US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ru-RU" altLang="en-US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TypeError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Can't instantiate abstract class</a:t>
            </a:r>
            <a:r>
              <a:rPr lang="ru-RU" altLang="en-US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...</a:t>
            </a:r>
            <a:endParaRPr lang="ru-RU" altLang="en-US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7774285" cy="1755140"/>
          </a:xfrm>
        </p:spPr>
        <p:txBody>
          <a:bodyPr/>
          <a:lstStyle/>
          <a:p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Использование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 </a:t>
            </a:r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абстракций</a:t>
            </a:r>
            <a:endParaRPr lang="en-US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745" y="2105025"/>
            <a:ext cx="18108295" cy="103308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from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dataclasses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dataclass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@dataclass</a:t>
            </a:r>
            <a:endParaRPr lang="en-US" altLang="ru-RU" sz="54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Rectangle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GeometricShape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length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width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get_area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length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width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get_perimeter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length 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+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width</a:t>
            </a:r>
            <a:endParaRPr lang="en-US" altLang="ru-RU" sz="5400">
              <a:solidFill>
                <a:schemeClr val="accent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7774285" cy="1755140"/>
          </a:xfrm>
        </p:spPr>
        <p:txBody>
          <a:bodyPr/>
          <a:lstStyle/>
          <a:p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Использование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 </a:t>
            </a:r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абстракций</a:t>
            </a:r>
            <a:endParaRPr lang="en-US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745" y="2033270"/>
            <a:ext cx="15332075" cy="103308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math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from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dataclasses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dataclass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@dataclass</a:t>
            </a:r>
            <a:endParaRPr lang="en-US" altLang="ru-RU" sz="48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Circle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GeometricShape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radius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property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area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math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pi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radius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** 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ru-RU" altLang="en-US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property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perimeter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math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pi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radius</a:t>
            </a:r>
            <a:endParaRPr lang="en-US" altLang="ru-RU" sz="4800">
              <a:solidFill>
                <a:schemeClr val="accent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5039975" cy="1755140"/>
          </a:xfrm>
        </p:spPr>
        <p:txBody>
          <a:bodyPr/>
          <a:lstStyle/>
          <a:p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Нарушение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 </a:t>
            </a:r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абстракции</a:t>
            </a:r>
            <a:endParaRPr lang="en-US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745" y="3977640"/>
            <a:ext cx="21319490" cy="75418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rectangle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Rectangle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length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width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circle 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Circle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radius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ru-RU" altLang="en-US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ru-RU" altLang="en-US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TypeError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Can't instantiate abstract class Circle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cxnSp>
        <p:nvCxnSpPr>
          <p:cNvPr id="3" name="Прямая со стрелкой 2"/>
          <p:cNvCxnSpPr/>
          <p:nvPr/>
        </p:nvCxnSpPr>
        <p:spPr>
          <a:xfrm flipH="1">
            <a:off x="12011025" y="6569710"/>
            <a:ext cx="2304415" cy="1584325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" name="Текстовое поле 4"/>
          <p:cNvSpPr txBox="1"/>
          <p:nvPr/>
        </p:nvSpPr>
        <p:spPr>
          <a:xfrm>
            <a:off x="13883640" y="4986020"/>
            <a:ext cx="6997065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не определили нужные методы</a:t>
            </a:r>
            <a:endParaRPr lang="ru-RU" altLang="en-US" sz="48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5" grpId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3609320" cy="1755140"/>
          </a:xfrm>
        </p:spPr>
        <p:txBody>
          <a:bodyPr/>
          <a:lstStyle/>
          <a:p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Исправление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 </a:t>
            </a:r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ошибок</a:t>
            </a:r>
            <a:endParaRPr lang="en-US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745" y="2549525"/>
            <a:ext cx="15332075" cy="92405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math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from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dataclasses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dataclass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@dataclass</a:t>
            </a:r>
            <a:endParaRPr lang="en-US" altLang="ru-RU" sz="48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Circle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GeometricShape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radius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get_area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math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pi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radius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** 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ru-RU" altLang="en-US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get_perimeter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math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pi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radius</a:t>
            </a:r>
            <a:endParaRPr lang="en-US" altLang="ru-RU" sz="4800">
              <a:solidFill>
                <a:schemeClr val="accent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1663045" cy="1755140"/>
          </a:xfrm>
        </p:spPr>
        <p:txBody>
          <a:bodyPr/>
          <a:lstStyle/>
          <a:p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Итоговое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 </a:t>
            </a:r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решение</a:t>
            </a:r>
            <a:endParaRPr lang="en-US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3" name="Текстовое поле 2"/>
          <p:cNvSpPr txBox="1"/>
          <p:nvPr/>
        </p:nvSpPr>
        <p:spPr>
          <a:xfrm>
            <a:off x="880110" y="4121785"/>
            <a:ext cx="22044660" cy="51288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print_geometric_shape_info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ru-RU" altLang="en-US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r>
              <a:rPr lang="ru-RU" altLang="en-US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GeometricShape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"area: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get_area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"perimeter: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get_perimeter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5928975" cy="1755140"/>
          </a:xfrm>
        </p:spPr>
        <p:txBody>
          <a:bodyPr/>
          <a:lstStyle/>
          <a:p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Итоговое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 </a:t>
            </a:r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решение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745" y="2033270"/>
            <a:ext cx="16560165" cy="104286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Rectangle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width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length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Circle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radius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4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48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print_geometric_shape_info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area: 6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perimeter: 10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area: 3.141592653589793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perimeter: 6.283185307179586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8996660" cy="1755140"/>
          </a:xfrm>
        </p:spPr>
        <p:txBody>
          <a:bodyPr/>
          <a:lstStyle/>
          <a:p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Минусы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 </a:t>
            </a:r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абстрактных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 </a:t>
            </a:r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классов</a:t>
            </a:r>
            <a:endParaRPr lang="en-US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745" y="2880360"/>
            <a:ext cx="16560165" cy="94748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57250" indent="-8572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ru-RU" altLang="en-US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Н</a:t>
            </a:r>
            <a:r>
              <a:rPr lang="en-US" altLang="en-US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еобходимость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 </a:t>
            </a:r>
            <a:r>
              <a:rPr lang="en-US" altLang="en-US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наследования</a:t>
            </a:r>
            <a:endParaRPr lang="en-US" altLang="en-US" sz="6000">
              <a:solidFill>
                <a:schemeClr val="bg2">
                  <a:lumMod val="75000"/>
                </a:schemeClr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  <a:p>
            <a:pPr marL="857250" indent="-8572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ru-RU" altLang="en-US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О</a:t>
            </a:r>
            <a:r>
              <a:rPr lang="en-US" altLang="en-US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тказ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 </a:t>
            </a:r>
            <a:r>
              <a:rPr lang="en-US" altLang="en-US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от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 </a:t>
            </a:r>
            <a:r>
              <a:rPr lang="en-US" altLang="en-US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динамической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 </a:t>
            </a:r>
            <a:r>
              <a:rPr lang="en-US" altLang="en-US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типизации</a:t>
            </a:r>
            <a:endParaRPr lang="en-US" altLang="en-US" sz="6000">
              <a:solidFill>
                <a:schemeClr val="bg2">
                  <a:lumMod val="75000"/>
                </a:schemeClr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  <a:p>
            <a:pPr marL="857250" indent="-8572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ru-RU" altLang="en-US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Ж</a:t>
            </a:r>
            <a:r>
              <a:rPr lang="en-US" altLang="en-US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естк</a:t>
            </a:r>
            <a:r>
              <a:rPr lang="ru-RU" altLang="en-US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ие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 </a:t>
            </a:r>
            <a:r>
              <a:rPr lang="en-US" altLang="en-US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связ</a:t>
            </a:r>
            <a:r>
              <a:rPr lang="ru-RU" altLang="en-US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и между классами</a:t>
            </a:r>
            <a:endParaRPr lang="en-US" altLang="en-US" sz="6000">
              <a:solidFill>
                <a:schemeClr val="bg2">
                  <a:lumMod val="75000"/>
                </a:schemeClr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  <a:p>
            <a:pPr marL="857250" indent="-8572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ru-RU" altLang="en-US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О</a:t>
            </a:r>
            <a:r>
              <a:rPr lang="en-US" altLang="en-US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граниченная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 </a:t>
            </a:r>
            <a:r>
              <a:rPr lang="en-US" altLang="en-US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поддержка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 MyPy</a:t>
            </a:r>
            <a:endParaRPr lang="en-US" altLang="ru-RU" sz="6000">
              <a:solidFill>
                <a:schemeClr val="bg2">
                  <a:lumMod val="75000"/>
                </a:schemeClr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7219315" cy="1755140"/>
          </a:xfrm>
        </p:spPr>
        <p:txBody>
          <a:bodyPr/>
          <a:lstStyle/>
          <a:p>
            <a:r>
              <a:rPr lang="ru-RU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Протоколы</a:t>
            </a:r>
            <a:endParaRPr lang="ru-RU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465070"/>
            <a:ext cx="16560165" cy="94748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from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typing </a:t>
            </a: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Protocol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ObjectWithArea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Protocol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get_area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...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ObjectWithPerimeter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Protocol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get_perimeter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...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7219315" cy="1755140"/>
          </a:xfrm>
        </p:spPr>
        <p:txBody>
          <a:bodyPr/>
          <a:lstStyle/>
          <a:p>
            <a:r>
              <a:rPr lang="ru-RU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Протоколы</a:t>
            </a:r>
            <a:endParaRPr lang="ru-RU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079625"/>
            <a:ext cx="16560165" cy="10355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from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typing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Protocol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ObjectWithArea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Protocol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...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ObjectWithPerimeter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Protocol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...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GeometricShape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ObjectWithArea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ObjectWithPerimeter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Protocol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...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1335385" cy="1462405"/>
          </a:xfrm>
        </p:spPr>
        <p:txBody>
          <a:bodyPr/>
          <a:lstStyle/>
          <a:p>
            <a:r>
              <a:rPr lang="ru-RU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Инстанцирование</a:t>
            </a:r>
            <a:endParaRPr lang="ru-RU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537460"/>
            <a:ext cx="16560165" cy="93319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GeometricShape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ObjectWithArea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ObjectWithPerimeter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Protocol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...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GeometricShape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ru-RU" altLang="en-US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ru-RU" altLang="en-US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TypeError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Protocols cannot be instantiated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8111470" cy="1755140"/>
          </a:xfrm>
        </p:spPr>
        <p:txBody>
          <a:bodyPr/>
          <a:lstStyle/>
          <a:p>
            <a:r>
              <a:rPr lang="ru-RU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Использование протокола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745" y="2537460"/>
            <a:ext cx="16560165" cy="92494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from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dataclasses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dataclass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@dataclass</a:t>
            </a:r>
            <a:endParaRPr lang="en-US" altLang="ru-RU" sz="48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Rectangle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length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width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get_area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length 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width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get_perimeter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length 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+ 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width</a:t>
            </a:r>
            <a:endParaRPr lang="en-US" altLang="ru-RU" sz="4800">
              <a:solidFill>
                <a:schemeClr val="accent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6884650" cy="1755140"/>
          </a:xfrm>
        </p:spPr>
        <p:txBody>
          <a:bodyPr/>
          <a:lstStyle/>
          <a:p>
            <a:r>
              <a:rPr lang="ru-RU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Использование протокола</a:t>
            </a:r>
            <a:endParaRPr lang="en-US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745" y="2549525"/>
            <a:ext cx="15332075" cy="92405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math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from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dataclasses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dataclass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@dataclass</a:t>
            </a:r>
            <a:endParaRPr lang="en-US" altLang="ru-RU" sz="48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Circle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radius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get_area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math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pi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radius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** 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ru-RU" altLang="en-US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get_perimeter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math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pi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radius</a:t>
            </a:r>
            <a:endParaRPr lang="en-US" altLang="ru-RU" sz="4800">
              <a:solidFill>
                <a:schemeClr val="accent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1663045" cy="1755140"/>
          </a:xfrm>
        </p:spPr>
        <p:txBody>
          <a:bodyPr/>
          <a:lstStyle/>
          <a:p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Итоговое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 </a:t>
            </a:r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решение</a:t>
            </a:r>
            <a:endParaRPr lang="en-US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3" name="Текстовое поле 2"/>
          <p:cNvSpPr txBox="1"/>
          <p:nvPr/>
        </p:nvSpPr>
        <p:spPr>
          <a:xfrm>
            <a:off x="880110" y="4121785"/>
            <a:ext cx="22044660" cy="51288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print_geometric_shape_info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ru-RU" altLang="en-US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r>
              <a:rPr lang="ru-RU" altLang="en-US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GeometricShape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"area: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get_area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"perimeter: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get_perimeter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5928975" cy="1755140"/>
          </a:xfrm>
        </p:spPr>
        <p:txBody>
          <a:bodyPr/>
          <a:lstStyle/>
          <a:p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Итоговое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 </a:t>
            </a:r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решение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745" y="2033270"/>
            <a:ext cx="16560165" cy="104286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Rectangle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width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length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Circle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radius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4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48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print_geometric_shape_info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area: 6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perimeter: 10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area: 3.141592653589793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perimeter: 6.283185307179586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113"/>
          <p:cNvSpPr txBox="1">
            <a:spLocks noGrp="1"/>
          </p:cNvSpPr>
          <p:nvPr>
            <p:ph type="title"/>
          </p:nvPr>
        </p:nvSpPr>
        <p:spPr>
          <a:xfrm>
            <a:off x="4387215" y="4049395"/>
            <a:ext cx="15968345" cy="2795905"/>
          </a:xfrm>
          <a:prstGeom prst="rect">
            <a:avLst/>
          </a:prstGeom>
        </p:spPr>
        <p:txBody>
          <a:bodyPr lIns="243800" tIns="243800" rIns="243800" bIns="243800" anchor="ctr" anchorCtr="0">
            <a:noAutofit/>
          </a:bodyPr>
          <a:lstStyle/>
          <a:p>
            <a:pPr algn="ctr"/>
            <a:r>
              <a:rPr lang="ru-RU" altLang="ru-RU" sz="8535" dirty="0" smtClean="0">
                <a:solidFill>
                  <a:schemeClr val="bg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Основные протоколы</a:t>
            </a:r>
            <a:endParaRPr lang="ru-RU" altLang="ru-RU" sz="8535" dirty="0" smtClean="0">
              <a:solidFill>
                <a:schemeClr val="bg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00000000-1234-1234-1234-123412341234}" type="slidenum">
              <a:rPr lang="en-US" sz="2800" b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fld>
            <a:endParaRPr lang="en-US" sz="28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7" name="Picture 3" descr="C:\Users\Давыдовы\dwhelper\_ФРИЛАНС\МФТИ\Преза ОИ\logo_whit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92603" y="1025352"/>
            <a:ext cx="2016029" cy="731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Группа 2"/>
          <p:cNvGrpSpPr/>
          <p:nvPr/>
        </p:nvGrpSpPr>
        <p:grpSpPr>
          <a:xfrm>
            <a:off x="1137920" y="12258675"/>
            <a:ext cx="1107378" cy="297180"/>
            <a:chOff x="658813" y="5548708"/>
            <a:chExt cx="712787" cy="189326"/>
          </a:xfrm>
        </p:grpSpPr>
        <p:sp>
          <p:nvSpPr>
            <p:cNvPr id="4" name="Овал 3"/>
            <p:cNvSpPr/>
            <p:nvPr/>
          </p:nvSpPr>
          <p:spPr>
            <a:xfrm>
              <a:off x="658813" y="5548708"/>
              <a:ext cx="189326" cy="189326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/>
            </a:p>
          </p:txBody>
        </p:sp>
        <p:sp>
          <p:nvSpPr>
            <p:cNvPr id="5" name="Овал 4"/>
            <p:cNvSpPr/>
            <p:nvPr/>
          </p:nvSpPr>
          <p:spPr>
            <a:xfrm>
              <a:off x="1182274" y="5548708"/>
              <a:ext cx="189326" cy="189326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/>
            </a:p>
          </p:txBody>
        </p:sp>
      </p:grpSp>
      <p:sp>
        <p:nvSpPr>
          <p:cNvPr id="6" name="Овал 5"/>
          <p:cNvSpPr/>
          <p:nvPr/>
        </p:nvSpPr>
        <p:spPr>
          <a:xfrm>
            <a:off x="2722053" y="12258675"/>
            <a:ext cx="294135" cy="29718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3492943" y="12258675"/>
            <a:ext cx="294135" cy="29718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20519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Протокол контейнера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3" name="Блок-схема: альтернативный процесс 2"/>
          <p:cNvSpPr/>
          <p:nvPr/>
        </p:nvSpPr>
        <p:spPr>
          <a:xfrm>
            <a:off x="993775" y="2681605"/>
            <a:ext cx="5530215" cy="1725295"/>
          </a:xfrm>
          <a:prstGeom prst="flowChartAlternateProcess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en-US" sz="6000" i="1">
                <a:latin typeface="Consolas" panose="020B0609020204030204" charset="0"/>
                <a:cs typeface="Consolas" panose="020B0609020204030204" charset="0"/>
              </a:rPr>
              <a:t>Container</a:t>
            </a:r>
            <a:endParaRPr lang="en-US" altLang="en-US" sz="6000" i="1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5" name="Блок-схема: альтернативный процесс 4"/>
          <p:cNvSpPr/>
          <p:nvPr/>
        </p:nvSpPr>
        <p:spPr>
          <a:xfrm>
            <a:off x="993775" y="4406900"/>
            <a:ext cx="5530850" cy="1725295"/>
          </a:xfrm>
          <a:prstGeom prst="flowChartAlternate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__contains__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20519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Реализация контейнера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1961515"/>
            <a:ext cx="23177500" cy="100818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from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typing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Hashable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MyContainer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_container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set</a:t>
            </a:r>
            <a:endParaRPr lang="en-US" altLang="ru-RU" sz="5400">
              <a:solidFill>
                <a:schemeClr val="accent1">
                  <a:lumMod val="60000"/>
                  <a:lumOff val="4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__init__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Hashable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_container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__contains__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bool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_container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857250" indent="-8572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20519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Допустимые действия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675890"/>
            <a:ext cx="15408910" cy="922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from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collections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abc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Container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isinstance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my_container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Container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my_container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5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my_container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sep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"\n"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True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True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False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20519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Недопустимые действия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249170"/>
            <a:ext cx="20137755" cy="103644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my_container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=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MyContainer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([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1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,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2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,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3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])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my_container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...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TypeError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'MyContainer' object is not iterable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len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my_container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TypeError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object of type 'MyContainer' has no len()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my_container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TypeError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'MyContainer' object is not subscriptable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20519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Протокол итерируемого объекта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3" name="Блок-схема: альтернативный процесс 2"/>
          <p:cNvSpPr/>
          <p:nvPr/>
        </p:nvSpPr>
        <p:spPr>
          <a:xfrm>
            <a:off x="993775" y="2681605"/>
            <a:ext cx="5530215" cy="1725295"/>
          </a:xfrm>
          <a:prstGeom prst="flowChartAlternateProcess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en-US" sz="6000" i="1">
                <a:latin typeface="Consolas" panose="020B0609020204030204" charset="0"/>
                <a:cs typeface="Consolas" panose="020B0609020204030204" charset="0"/>
              </a:rPr>
              <a:t>Container</a:t>
            </a:r>
            <a:endParaRPr lang="en-US" altLang="en-US" sz="6000" i="1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5" name="Блок-схема: альтернативный процесс 4"/>
          <p:cNvSpPr/>
          <p:nvPr/>
        </p:nvSpPr>
        <p:spPr>
          <a:xfrm>
            <a:off x="993775" y="4406900"/>
            <a:ext cx="5530850" cy="1725295"/>
          </a:xfrm>
          <a:prstGeom prst="flowChartAlternate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__contains__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6" name="Блок-схема: альтернативный процесс 5"/>
          <p:cNvSpPr/>
          <p:nvPr/>
        </p:nvSpPr>
        <p:spPr>
          <a:xfrm>
            <a:off x="7402830" y="2684145"/>
            <a:ext cx="5530215" cy="1725295"/>
          </a:xfrm>
          <a:prstGeom prst="flowChartAlternateProcess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6000" i="1">
                <a:latin typeface="Consolas" panose="020B0609020204030204" charset="0"/>
                <a:cs typeface="Consolas" panose="020B0609020204030204" charset="0"/>
              </a:rPr>
              <a:t>Iterable</a:t>
            </a:r>
            <a:endParaRPr lang="en-US" altLang="ru-RU" sz="6000" i="1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7" name="Блок-схема: альтернативный процесс 6"/>
          <p:cNvSpPr/>
          <p:nvPr/>
        </p:nvSpPr>
        <p:spPr>
          <a:xfrm>
            <a:off x="7402830" y="4409440"/>
            <a:ext cx="5530850" cy="1725295"/>
          </a:xfrm>
          <a:prstGeom prst="flowChartAlternate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__iter__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244217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Реализация итерируемого объекта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312670"/>
            <a:ext cx="22045930" cy="99453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from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typing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Iterator</a:t>
            </a:r>
            <a:endParaRPr lang="en-US" altLang="ru-RU" sz="60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MyIterable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60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__init__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])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__iter__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Iterator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iter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244217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Допустимые действия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609215"/>
            <a:ext cx="17367250" cy="93897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MyIterable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([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isinstance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True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1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2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3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iter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__name__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list_iterator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244217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Недопустимые действия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3165475"/>
            <a:ext cx="21897340" cy="84162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MyIterable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([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0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en-US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en-US" altLang="en-US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TypeError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'MyIterable' object is not subscriptable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len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TypeError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object of type 'MyIterable' has no len()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5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not in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True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3" name="Текстовое поле 2"/>
          <p:cNvSpPr txBox="1"/>
          <p:nvPr/>
        </p:nvSpPr>
        <p:spPr>
          <a:xfrm>
            <a:off x="14747240" y="9954260"/>
            <a:ext cx="3923030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ru-RU" altLang="ru-RU" sz="60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почему?</a:t>
            </a:r>
            <a:endParaRPr lang="ru-RU" altLang="ru-RU" sz="60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7" name="Правая фигурная скобка 6"/>
          <p:cNvSpPr/>
          <p:nvPr/>
        </p:nvSpPr>
        <p:spPr>
          <a:xfrm>
            <a:off x="14027150" y="9738360"/>
            <a:ext cx="537210" cy="1584325"/>
          </a:xfrm>
          <a:prstGeom prst="rightBrace">
            <a:avLst>
              <a:gd name="adj1" fmla="val 31520"/>
              <a:gd name="adj2" fmla="val 50020"/>
            </a:avLst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ru-RU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7" grpId="0" animBg="1"/>
      <p:bldP spid="3" grpId="1"/>
      <p:bldP spid="7" grpId="1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244217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Связь 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__iter__ </a:t>
            </a:r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 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__contains__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219960"/>
            <a:ext cx="16004540" cy="102914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MyIterable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...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__iter__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Iterator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"call iter"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iter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my_iterable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=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MyIterable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([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1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,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2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,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3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])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isinstance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Container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False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call iter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True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2442170" cy="1755140"/>
          </a:xfrm>
        </p:spPr>
        <p:txBody>
          <a:bodyPr/>
          <a:lstStyle/>
          <a:p>
            <a:r>
              <a:rPr 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Неверная реализация</a:t>
            </a:r>
            <a:endParaRPr 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897505"/>
            <a:ext cx="20568285" cy="87610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MyIterable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...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__iter__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Iterator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([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1, 2, 3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])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...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TypeError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iter() returned non-iterator of type 'list'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20519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Протокол итератора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3" name="Блок-схема: альтернативный процесс 2"/>
          <p:cNvSpPr/>
          <p:nvPr/>
        </p:nvSpPr>
        <p:spPr>
          <a:xfrm>
            <a:off x="993775" y="2681605"/>
            <a:ext cx="5530215" cy="1725295"/>
          </a:xfrm>
          <a:prstGeom prst="flowChartAlternateProcess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en-US" sz="6000" i="1">
                <a:latin typeface="Consolas" panose="020B0609020204030204" charset="0"/>
                <a:cs typeface="Consolas" panose="020B0609020204030204" charset="0"/>
              </a:rPr>
              <a:t>Container</a:t>
            </a:r>
            <a:endParaRPr lang="en-US" altLang="en-US" sz="6000" i="1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5" name="Блок-схема: альтернативный процесс 4"/>
          <p:cNvSpPr/>
          <p:nvPr/>
        </p:nvSpPr>
        <p:spPr>
          <a:xfrm>
            <a:off x="993775" y="4406900"/>
            <a:ext cx="5530850" cy="1725295"/>
          </a:xfrm>
          <a:prstGeom prst="flowChartAlternate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__contains__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6" name="Блок-схема: альтернативный процесс 5"/>
          <p:cNvSpPr/>
          <p:nvPr/>
        </p:nvSpPr>
        <p:spPr>
          <a:xfrm>
            <a:off x="7402830" y="2684145"/>
            <a:ext cx="5530215" cy="1725295"/>
          </a:xfrm>
          <a:prstGeom prst="flowChartAlternateProcess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6000" i="1">
                <a:latin typeface="Consolas" panose="020B0609020204030204" charset="0"/>
                <a:cs typeface="Consolas" panose="020B0609020204030204" charset="0"/>
              </a:rPr>
              <a:t>Iterable</a:t>
            </a:r>
            <a:endParaRPr lang="en-US" altLang="ru-RU" sz="6000" i="1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7" name="Блок-схема: альтернативный процесс 6"/>
          <p:cNvSpPr/>
          <p:nvPr/>
        </p:nvSpPr>
        <p:spPr>
          <a:xfrm>
            <a:off x="7402830" y="4409440"/>
            <a:ext cx="5530850" cy="1725295"/>
          </a:xfrm>
          <a:prstGeom prst="flowChartAlternate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__iter__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8" name="Блок-схема: альтернативный процесс 7"/>
          <p:cNvSpPr/>
          <p:nvPr/>
        </p:nvSpPr>
        <p:spPr>
          <a:xfrm>
            <a:off x="7402195" y="6932930"/>
            <a:ext cx="5530215" cy="1725295"/>
          </a:xfrm>
          <a:prstGeom prst="flowChartAlternateProcess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6000" i="1">
                <a:latin typeface="Consolas" panose="020B0609020204030204" charset="0"/>
                <a:cs typeface="Consolas" panose="020B0609020204030204" charset="0"/>
              </a:rPr>
              <a:t>Iterator</a:t>
            </a:r>
            <a:endParaRPr lang="en-US" altLang="ru-RU" sz="6000" i="1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9" name="Блок-схема: альтернативный процесс 8"/>
          <p:cNvSpPr/>
          <p:nvPr/>
        </p:nvSpPr>
        <p:spPr>
          <a:xfrm>
            <a:off x="7402195" y="8658225"/>
            <a:ext cx="5530850" cy="1725295"/>
          </a:xfrm>
          <a:prstGeom prst="flowChartAlternate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__iter__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</p:txBody>
      </p:sp>
      <p:cxnSp>
        <p:nvCxnSpPr>
          <p:cNvPr id="10" name="Прямая со стрелкой 9"/>
          <p:cNvCxnSpPr>
            <a:stCxn id="8" idx="0"/>
            <a:endCxn id="7" idx="2"/>
          </p:cNvCxnSpPr>
          <p:nvPr/>
        </p:nvCxnSpPr>
        <p:spPr>
          <a:xfrm flipV="1">
            <a:off x="10167620" y="6134735"/>
            <a:ext cx="635" cy="798195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Блок-схема: альтернативный процесс 10"/>
          <p:cNvSpPr/>
          <p:nvPr/>
        </p:nvSpPr>
        <p:spPr>
          <a:xfrm>
            <a:off x="7401560" y="10386695"/>
            <a:ext cx="5530850" cy="1725295"/>
          </a:xfrm>
          <a:prstGeom prst="flowChartAlternate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__next__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20519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Попытка реализации 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#1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880110" y="2177415"/>
            <a:ext cx="16117570" cy="104432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MyIterable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_iter_ptr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__init__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])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_iter_ptr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-1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__iter__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Iterator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__next__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_iter_ptr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+= </a:t>
            </a:r>
            <a:r>
              <a:rPr lang="en-US" altLang="ru-RU" sz="4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_iter_ptr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&lt;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len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    </a:t>
            </a:r>
            <a:r>
              <a:rPr lang="en-US" altLang="ru-RU" sz="4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_iter_ptr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raise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StopIteration</a:t>
            </a:r>
            <a:endParaRPr lang="en-US" altLang="ru-RU" sz="4000">
              <a:solidFill>
                <a:schemeClr val="accent1">
                  <a:lumMod val="60000"/>
                  <a:lumOff val="4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205190" cy="1755140"/>
          </a:xfrm>
        </p:spPr>
        <p:txBody>
          <a:bodyPr/>
          <a:lstStyle/>
          <a:p>
            <a:r>
              <a:rPr 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Проблемы реализации</a:t>
            </a:r>
            <a:endParaRPr 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880110" y="2465070"/>
            <a:ext cx="14828520" cy="97212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MyIterable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([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1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2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3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</a:t>
            </a:r>
            <a:r>
              <a:rPr lang="ru-RU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ничего не выведено</a:t>
            </a:r>
            <a:endParaRPr lang="ru-RU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20519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Попытка реализации 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#</a:t>
            </a:r>
            <a:r>
              <a:rPr lang="ru-RU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2</a:t>
            </a:r>
            <a:endParaRPr lang="ru-RU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880110" y="2177415"/>
            <a:ext cx="16316960" cy="100977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MyIterable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_iter_ptr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__init__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])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__iter__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Iterator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ru-RU" altLang="en-US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_iter_ptr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= </a:t>
            </a:r>
            <a:r>
              <a:rPr lang="en-US" altLang="ru-RU" sz="4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-1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__next__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_iter_ptr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+= </a:t>
            </a:r>
            <a:r>
              <a:rPr lang="en-US" altLang="ru-RU" sz="4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_iter_ptr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&lt;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len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    </a:t>
            </a:r>
            <a:r>
              <a:rPr lang="en-US" altLang="ru-RU" sz="4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_iter_ptr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raise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StopIteration</a:t>
            </a:r>
            <a:endParaRPr lang="en-US" altLang="ru-RU" sz="4000">
              <a:solidFill>
                <a:schemeClr val="accent1">
                  <a:lumMod val="60000"/>
                  <a:lumOff val="4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205190" cy="1755140"/>
          </a:xfrm>
        </p:spPr>
        <p:txBody>
          <a:bodyPr/>
          <a:lstStyle/>
          <a:p>
            <a:r>
              <a:rPr 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Проблемы решены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?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880110" y="2424430"/>
            <a:ext cx="13857605" cy="99072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([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])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1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2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3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</a:t>
            </a:r>
            <a:r>
              <a:rPr lang="ru-RU" altLang="en-US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endParaRPr lang="ru-RU" altLang="en-US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</a:t>
            </a:r>
            <a:r>
              <a:rPr lang="ru-RU" altLang="en-US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endParaRPr lang="ru-RU" altLang="en-US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</a:t>
            </a:r>
            <a:r>
              <a:rPr lang="ru-RU" altLang="en-US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</a:t>
            </a:r>
            <a:endParaRPr lang="ru-RU" altLang="en-US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20519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Да будут новые проблемы!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880110" y="3689985"/>
            <a:ext cx="15496540" cy="67957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MyIterable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([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elem_inner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elem_inner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</a:t>
            </a:r>
            <a:r>
              <a:rPr lang="ru-RU" altLang="en-US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endParaRPr lang="ru-RU" altLang="en-US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</a:t>
            </a:r>
            <a:r>
              <a:rPr lang="ru-RU" altLang="en-US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endParaRPr lang="ru-RU" altLang="en-US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</a:t>
            </a:r>
            <a:r>
              <a:rPr lang="ru-RU" altLang="en-US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</a:t>
            </a:r>
            <a:endParaRPr lang="ru-RU" altLang="en-US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20519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Попытка реализации 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#3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880110" y="2177415"/>
            <a:ext cx="16117570" cy="102723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MyIterable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_iter_ptr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__init__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])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0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       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_iter_ptr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= </a:t>
            </a:r>
            <a:r>
              <a:rPr lang="en-US" altLang="ru-RU" sz="4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-1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__iter__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Iterator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__next__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_iter_ptr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+= </a:t>
            </a:r>
            <a:r>
              <a:rPr lang="en-US" altLang="ru-RU" sz="4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_iter_ptr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&lt;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len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    </a:t>
            </a:r>
            <a:r>
              <a:rPr lang="en-US" altLang="ru-RU" sz="4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_iter_ptr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raise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StopIteration</a:t>
            </a:r>
            <a:endParaRPr lang="en-US" altLang="ru-RU" sz="4000">
              <a:solidFill>
                <a:schemeClr val="accent1">
                  <a:lumMod val="60000"/>
                  <a:lumOff val="4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20519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Ну теперь-то решены?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880110" y="2609215"/>
            <a:ext cx="15673705" cy="93141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MyIterable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([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sep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 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1 2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elem_inner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elem_inner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,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sep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=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 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1 2 1 2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20519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Итератор и объектная модель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880110" y="3354070"/>
            <a:ext cx="19905980" cy="81768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my_iterable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MyIterable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([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1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,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2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])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next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1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accent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my_list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next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my_list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TypeError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'list' object is not an iterator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4938375" cy="1755140"/>
          </a:xfrm>
        </p:spPr>
        <p:txBody>
          <a:bodyPr/>
          <a:lstStyle/>
          <a:p>
            <a:r>
              <a:rPr 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Финальная реализация</a:t>
            </a:r>
            <a:endParaRPr 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880110" y="2177415"/>
            <a:ext cx="16333470" cy="108667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MyIterator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4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_iter_ptr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endParaRPr lang="en-US" altLang="ru-RU" sz="4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__init__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])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_iter_ptr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-1</a:t>
            </a:r>
            <a:endParaRPr lang="en-US" altLang="ru-RU" sz="4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__iter__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MyIterator</a:t>
            </a:r>
            <a:r>
              <a:rPr lang="en-US" altLang="ru-RU" sz="4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MyIterator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endParaRPr lang="en-US" altLang="ru-RU" sz="4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__next__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_iter_ptr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+= </a:t>
            </a:r>
            <a:r>
              <a:rPr lang="en-US" altLang="ru-RU" sz="4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endParaRPr lang="en-US" altLang="ru-RU" sz="4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if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_iter_ptr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&lt;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len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    </a:t>
            </a:r>
            <a:r>
              <a:rPr lang="en-US" altLang="ru-RU" sz="4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_iter_ptr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4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raise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StopIteration</a:t>
            </a:r>
            <a:endParaRPr lang="en-US" altLang="ru-RU" sz="4000">
              <a:solidFill>
                <a:schemeClr val="accent1">
                  <a:lumMod val="60000"/>
                  <a:lumOff val="4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4938375" cy="1755140"/>
          </a:xfrm>
        </p:spPr>
        <p:txBody>
          <a:bodyPr/>
          <a:lstStyle/>
          <a:p>
            <a:r>
              <a:rPr 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Финальная реализация</a:t>
            </a:r>
            <a:endParaRPr 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880110" y="2897505"/>
            <a:ext cx="19726910" cy="73894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MyIterable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__init__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__iter__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Iterator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MyIterator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4938375" cy="1755140"/>
          </a:xfrm>
        </p:spPr>
        <p:txBody>
          <a:bodyPr/>
          <a:lstStyle/>
          <a:p>
            <a:r>
              <a:rPr 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Финальная реализация</a:t>
            </a:r>
            <a:endParaRPr 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880110" y="3073400"/>
            <a:ext cx="20890230" cy="78435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MyIterable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([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end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 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1 2 1 2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next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TypeError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'MyIterable' object is not an iterator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014055" cy="1755140"/>
          </a:xfrm>
        </p:spPr>
        <p:txBody>
          <a:bodyPr/>
          <a:lstStyle/>
          <a:p>
            <a:r>
              <a:rPr 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StopIteration </a:t>
            </a:r>
            <a:r>
              <a:rPr 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 секрет цикла </a:t>
            </a:r>
            <a:r>
              <a:rPr 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for</a:t>
            </a:r>
            <a:endParaRPr 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880110" y="2465070"/>
            <a:ext cx="13949045" cy="82086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([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my_iterator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iter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while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True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try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next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my_iterator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except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StopIteration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break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1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2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3" name="Текстовое поле 2"/>
          <p:cNvSpPr txBox="1"/>
          <p:nvPr/>
        </p:nvSpPr>
        <p:spPr>
          <a:xfrm>
            <a:off x="880110" y="10673715"/>
            <a:ext cx="10105390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for elem in my_iterable: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    print(elem)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20519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Протокол объекта с размером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3" name="Блок-схема: альтернативный процесс 2"/>
          <p:cNvSpPr/>
          <p:nvPr/>
        </p:nvSpPr>
        <p:spPr>
          <a:xfrm>
            <a:off x="993775" y="2681605"/>
            <a:ext cx="5530215" cy="1725295"/>
          </a:xfrm>
          <a:prstGeom prst="flowChartAlternateProcess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en-US" sz="6000" i="1">
                <a:latin typeface="Consolas" panose="020B0609020204030204" charset="0"/>
                <a:cs typeface="Consolas" panose="020B0609020204030204" charset="0"/>
              </a:rPr>
              <a:t>Container</a:t>
            </a:r>
            <a:endParaRPr lang="en-US" altLang="en-US" sz="6000" i="1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5" name="Блок-схема: альтернативный процесс 4"/>
          <p:cNvSpPr/>
          <p:nvPr/>
        </p:nvSpPr>
        <p:spPr>
          <a:xfrm>
            <a:off x="993775" y="4406900"/>
            <a:ext cx="5530850" cy="1725295"/>
          </a:xfrm>
          <a:prstGeom prst="flowChartAlternate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__contains__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6" name="Блок-схема: альтернативный процесс 5"/>
          <p:cNvSpPr/>
          <p:nvPr/>
        </p:nvSpPr>
        <p:spPr>
          <a:xfrm>
            <a:off x="7402830" y="2684145"/>
            <a:ext cx="5530215" cy="1725295"/>
          </a:xfrm>
          <a:prstGeom prst="flowChartAlternateProcess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6000" i="1">
                <a:latin typeface="Consolas" panose="020B0609020204030204" charset="0"/>
                <a:cs typeface="Consolas" panose="020B0609020204030204" charset="0"/>
              </a:rPr>
              <a:t>Iterable</a:t>
            </a:r>
            <a:endParaRPr lang="en-US" altLang="ru-RU" sz="6000" i="1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7" name="Блок-схема: альтернативный процесс 6"/>
          <p:cNvSpPr/>
          <p:nvPr/>
        </p:nvSpPr>
        <p:spPr>
          <a:xfrm>
            <a:off x="7402830" y="4409440"/>
            <a:ext cx="5530850" cy="1725295"/>
          </a:xfrm>
          <a:prstGeom prst="flowChartAlternate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__iter__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8" name="Блок-схема: альтернативный процесс 7"/>
          <p:cNvSpPr/>
          <p:nvPr/>
        </p:nvSpPr>
        <p:spPr>
          <a:xfrm>
            <a:off x="7402195" y="6932930"/>
            <a:ext cx="5530215" cy="1725295"/>
          </a:xfrm>
          <a:prstGeom prst="flowChartAlternateProcess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6000" i="1">
                <a:latin typeface="Consolas" panose="020B0609020204030204" charset="0"/>
                <a:cs typeface="Consolas" panose="020B0609020204030204" charset="0"/>
              </a:rPr>
              <a:t>Iterator</a:t>
            </a:r>
            <a:endParaRPr lang="en-US" altLang="ru-RU" sz="6000" i="1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9" name="Блок-схема: альтернативный процесс 8"/>
          <p:cNvSpPr/>
          <p:nvPr/>
        </p:nvSpPr>
        <p:spPr>
          <a:xfrm>
            <a:off x="7402195" y="8658225"/>
            <a:ext cx="5530850" cy="1725295"/>
          </a:xfrm>
          <a:prstGeom prst="flowChartAlternate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__iter__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</p:txBody>
      </p:sp>
      <p:cxnSp>
        <p:nvCxnSpPr>
          <p:cNvPr id="10" name="Прямая со стрелкой 9"/>
          <p:cNvCxnSpPr>
            <a:stCxn id="8" idx="0"/>
            <a:endCxn id="7" idx="2"/>
          </p:cNvCxnSpPr>
          <p:nvPr/>
        </p:nvCxnSpPr>
        <p:spPr>
          <a:xfrm flipV="1">
            <a:off x="10167620" y="6134735"/>
            <a:ext cx="635" cy="798195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Блок-схема: альтернативный процесс 10"/>
          <p:cNvSpPr/>
          <p:nvPr/>
        </p:nvSpPr>
        <p:spPr>
          <a:xfrm>
            <a:off x="7401560" y="10386695"/>
            <a:ext cx="5530850" cy="1725295"/>
          </a:xfrm>
          <a:prstGeom prst="flowChartAlternate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__next__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12" name="Блок-схема: альтернативный процесс 11"/>
          <p:cNvSpPr/>
          <p:nvPr/>
        </p:nvSpPr>
        <p:spPr>
          <a:xfrm>
            <a:off x="13811885" y="2684145"/>
            <a:ext cx="5530215" cy="1725295"/>
          </a:xfrm>
          <a:prstGeom prst="flowChartAlternateProcess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6000" i="1">
                <a:latin typeface="Consolas" panose="020B0609020204030204" charset="0"/>
                <a:cs typeface="Consolas" panose="020B0609020204030204" charset="0"/>
              </a:rPr>
              <a:t>Sized</a:t>
            </a:r>
            <a:endParaRPr lang="en-US" altLang="ru-RU" sz="6000" i="1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13811885" y="4409440"/>
            <a:ext cx="5530850" cy="1725295"/>
          </a:xfrm>
          <a:prstGeom prst="flowChartAlternate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__len__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056955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Реализация </a:t>
            </a:r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объекта с размером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880110" y="2033270"/>
            <a:ext cx="19646900" cy="103365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MySized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__init__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__len__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len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my_sized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MySized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range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10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len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my_sized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10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728406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Недопустимые действия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880110" y="2209165"/>
            <a:ext cx="20556220" cy="102260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my_sized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MySized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range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10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my_sized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...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TypeError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'MySized' object is not iterable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my_sized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TypeError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argument of type 'MySized' is not iterable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my_sized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0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TypeError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'MySized' object is not subscriptable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056955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Ограничения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880110" y="2340610"/>
            <a:ext cx="17289780" cy="98545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MySized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__init__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__len__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ru-RU" altLang="en-US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-1</a:t>
            </a:r>
            <a:endParaRPr lang="en-US" altLang="ru-RU" sz="48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my_sized</a:t>
            </a:r>
            <a:r>
              <a:rPr lang="en-US" altLang="ru-RU" sz="48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MySized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range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10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48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len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my_sized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48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ru-RU" altLang="en-US" sz="48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ru-RU" altLang="en-US" sz="48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ValueError</a:t>
            </a:r>
            <a:r>
              <a:rPr lang="en-US" altLang="ru-RU" sz="48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__len__() should return &gt;= 0</a:t>
            </a:r>
            <a:endParaRPr lang="en-US" altLang="ru-RU" sz="48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056955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__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len__ </a:t>
            </a:r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 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__bool__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880110" y="2609215"/>
            <a:ext cx="19558000" cy="80835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MySized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__init__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__len__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"len"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return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len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self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_iterable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)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056955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__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len__ </a:t>
            </a:r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 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__bool__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880110" y="2681605"/>
            <a:ext cx="14561185" cy="86506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my_sized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MySized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range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10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bool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my_sized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len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True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my_sized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MySized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([])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bool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my_sized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len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False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113"/>
          <p:cNvSpPr txBox="1">
            <a:spLocks noGrp="1"/>
          </p:cNvSpPr>
          <p:nvPr>
            <p:ph type="title"/>
          </p:nvPr>
        </p:nvSpPr>
        <p:spPr>
          <a:xfrm>
            <a:off x="4387215" y="4049395"/>
            <a:ext cx="15968345" cy="2795905"/>
          </a:xfrm>
          <a:prstGeom prst="rect">
            <a:avLst/>
          </a:prstGeom>
        </p:spPr>
        <p:txBody>
          <a:bodyPr lIns="243800" tIns="243800" rIns="243800" bIns="243800" anchor="ctr" anchorCtr="0">
            <a:noAutofit/>
          </a:bodyPr>
          <a:lstStyle/>
          <a:p>
            <a:pPr algn="ctr"/>
            <a:r>
              <a:rPr lang="ru-RU" altLang="ru-RU" sz="8535" smtClean="0">
                <a:solidFill>
                  <a:schemeClr val="bg1"/>
                </a:solidFill>
                <a:latin typeface="Arial Black" panose="020B0A04020102020204" pitchFamily="34" charset="0"/>
                <a:cs typeface="Arial Black" panose="020B0A04020102020204" pitchFamily="34" charset="0"/>
                <a:sym typeface="+mn-ea"/>
              </a:rPr>
              <a:t>Протоколы коллекций</a:t>
            </a:r>
            <a:endParaRPr lang="ru-RU" altLang="ru-RU" sz="8535" dirty="0" smtClean="0">
              <a:solidFill>
                <a:schemeClr val="bg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00000000-1234-1234-1234-123412341234}" type="slidenum">
              <a:rPr lang="en-US" sz="2800" b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fld>
            <a:endParaRPr lang="en-US" sz="28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7" name="Picture 3" descr="C:\Users\Давыдовы\dwhelper\_ФРИЛАНС\МФТИ\Преза ОИ\logo_whit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92603" y="1025352"/>
            <a:ext cx="2016029" cy="731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Группа 2"/>
          <p:cNvGrpSpPr/>
          <p:nvPr/>
        </p:nvGrpSpPr>
        <p:grpSpPr>
          <a:xfrm>
            <a:off x="1137920" y="12258675"/>
            <a:ext cx="1107378" cy="297180"/>
            <a:chOff x="658813" y="5548708"/>
            <a:chExt cx="712787" cy="189326"/>
          </a:xfrm>
        </p:grpSpPr>
        <p:sp>
          <p:nvSpPr>
            <p:cNvPr id="4" name="Овал 3"/>
            <p:cNvSpPr/>
            <p:nvPr/>
          </p:nvSpPr>
          <p:spPr>
            <a:xfrm>
              <a:off x="658813" y="5548708"/>
              <a:ext cx="189326" cy="189326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/>
            </a:p>
          </p:txBody>
        </p:sp>
        <p:sp>
          <p:nvSpPr>
            <p:cNvPr id="5" name="Овал 4"/>
            <p:cNvSpPr/>
            <p:nvPr/>
          </p:nvSpPr>
          <p:spPr>
            <a:xfrm>
              <a:off x="1182274" y="5548708"/>
              <a:ext cx="189326" cy="189326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/>
            </a:p>
          </p:txBody>
        </p:sp>
      </p:grpSp>
      <p:sp>
        <p:nvSpPr>
          <p:cNvPr id="6" name="Овал 5"/>
          <p:cNvSpPr/>
          <p:nvPr/>
        </p:nvSpPr>
        <p:spPr>
          <a:xfrm>
            <a:off x="2722053" y="12258675"/>
            <a:ext cx="294135" cy="29718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3492943" y="12258675"/>
            <a:ext cx="294135" cy="29718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434084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Протокол коллекции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3" name="Блок-схема: альтернативный процесс 2"/>
          <p:cNvSpPr/>
          <p:nvPr/>
        </p:nvSpPr>
        <p:spPr>
          <a:xfrm>
            <a:off x="993775" y="2681605"/>
            <a:ext cx="5530215" cy="1725295"/>
          </a:xfrm>
          <a:prstGeom prst="flowChartAlternateProcess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en-US" sz="6000" i="1">
                <a:latin typeface="Consolas" panose="020B0609020204030204" charset="0"/>
                <a:cs typeface="Consolas" panose="020B0609020204030204" charset="0"/>
              </a:rPr>
              <a:t>Container</a:t>
            </a:r>
            <a:endParaRPr lang="en-US" altLang="en-US" sz="6000" i="1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5" name="Блок-схема: альтернативный процесс 4"/>
          <p:cNvSpPr/>
          <p:nvPr/>
        </p:nvSpPr>
        <p:spPr>
          <a:xfrm>
            <a:off x="7402830" y="7214870"/>
            <a:ext cx="5530850" cy="1725295"/>
          </a:xfrm>
          <a:prstGeom prst="flowChartAlternate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__contains__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6" name="Блок-схема: альтернативный процесс 5"/>
          <p:cNvSpPr/>
          <p:nvPr/>
        </p:nvSpPr>
        <p:spPr>
          <a:xfrm>
            <a:off x="7402830" y="2684145"/>
            <a:ext cx="5530215" cy="1725295"/>
          </a:xfrm>
          <a:prstGeom prst="flowChartAlternateProcess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6000" i="1">
                <a:latin typeface="Consolas" panose="020B0609020204030204" charset="0"/>
                <a:cs typeface="Consolas" panose="020B0609020204030204" charset="0"/>
              </a:rPr>
              <a:t>Iterable</a:t>
            </a:r>
            <a:endParaRPr lang="en-US" altLang="ru-RU" sz="6000" i="1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7" name="Блок-схема: альтернативный процесс 6"/>
          <p:cNvSpPr/>
          <p:nvPr/>
        </p:nvSpPr>
        <p:spPr>
          <a:xfrm>
            <a:off x="7404100" y="8943340"/>
            <a:ext cx="5530850" cy="1725295"/>
          </a:xfrm>
          <a:prstGeom prst="flowChartAlternate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__iter__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8" name="Блок-схема: альтернативный процесс 7"/>
          <p:cNvSpPr/>
          <p:nvPr/>
        </p:nvSpPr>
        <p:spPr>
          <a:xfrm>
            <a:off x="7403465" y="5489575"/>
            <a:ext cx="5530215" cy="1725295"/>
          </a:xfrm>
          <a:prstGeom prst="flowChartAlternateProcess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en-US" sz="6000" i="1">
                <a:latin typeface="Consolas" panose="020B0609020204030204" charset="0"/>
                <a:cs typeface="Consolas" panose="020B0609020204030204" charset="0"/>
              </a:rPr>
              <a:t>Collections</a:t>
            </a:r>
            <a:endParaRPr lang="en-US" altLang="en-US" sz="6000" i="1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12" name="Блок-схема: альтернативный процесс 11"/>
          <p:cNvSpPr/>
          <p:nvPr/>
        </p:nvSpPr>
        <p:spPr>
          <a:xfrm>
            <a:off x="13811885" y="2684145"/>
            <a:ext cx="5530215" cy="1725295"/>
          </a:xfrm>
          <a:prstGeom prst="flowChartAlternateProcess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6000" i="1">
                <a:latin typeface="Consolas" panose="020B0609020204030204" charset="0"/>
                <a:cs typeface="Consolas" panose="020B0609020204030204" charset="0"/>
              </a:rPr>
              <a:t>Sized</a:t>
            </a:r>
            <a:endParaRPr lang="en-US" altLang="ru-RU" sz="6000" i="1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7404100" y="10668635"/>
            <a:ext cx="5530850" cy="1725295"/>
          </a:xfrm>
          <a:prstGeom prst="flowChartAlternate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__len__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</p:txBody>
      </p:sp>
      <p:cxnSp>
        <p:nvCxnSpPr>
          <p:cNvPr id="14" name="Прямая со стрелкой 13"/>
          <p:cNvCxnSpPr>
            <a:stCxn id="8" idx="0"/>
            <a:endCxn id="6" idx="2"/>
          </p:cNvCxnSpPr>
          <p:nvPr/>
        </p:nvCxnSpPr>
        <p:spPr>
          <a:xfrm flipH="1" flipV="1">
            <a:off x="10168255" y="4409440"/>
            <a:ext cx="635" cy="1080135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8" idx="0"/>
            <a:endCxn id="3" idx="2"/>
          </p:cNvCxnSpPr>
          <p:nvPr/>
        </p:nvCxnSpPr>
        <p:spPr>
          <a:xfrm flipH="1" flipV="1">
            <a:off x="3759200" y="4406900"/>
            <a:ext cx="6409690" cy="1082675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" name="Прямая со стрелкой 16"/>
          <p:cNvCxnSpPr>
            <a:endCxn id="12" idx="2"/>
          </p:cNvCxnSpPr>
          <p:nvPr/>
        </p:nvCxnSpPr>
        <p:spPr>
          <a:xfrm flipV="1">
            <a:off x="10211435" y="4409440"/>
            <a:ext cx="6365875" cy="1080770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688655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Реализация коллекции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9" name="Текстовое поле 8"/>
          <p:cNvSpPr txBox="1"/>
          <p:nvPr/>
        </p:nvSpPr>
        <p:spPr>
          <a:xfrm>
            <a:off x="880110" y="2226310"/>
            <a:ext cx="16529050" cy="105429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4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from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typing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Iterator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MyCollection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__init__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])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__contains__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-&gt;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bool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   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__iter__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Iterator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iter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   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__len__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len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0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688655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Допустимые действия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9" name="Текстовое поле 8"/>
          <p:cNvSpPr txBox="1"/>
          <p:nvPr/>
        </p:nvSpPr>
        <p:spPr>
          <a:xfrm>
            <a:off x="880110" y="2668270"/>
            <a:ext cx="16232505" cy="8973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my_collection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MyCollection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range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my_collection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0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1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my_collection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False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len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my_collection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</a:t>
            </a:r>
            <a:r>
              <a:rPr lang="ru-RU" altLang="en-US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232979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Чтение элементов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9" name="Текстовое поле 8"/>
          <p:cNvSpPr txBox="1"/>
          <p:nvPr/>
        </p:nvSpPr>
        <p:spPr>
          <a:xfrm>
            <a:off x="880110" y="2392045"/>
            <a:ext cx="20492720" cy="97015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from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typing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Iterator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MyCollection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ru-RU" altLang="en-US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ru-RU" altLang="en-US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ru-RU" altLang="en-US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__getitem__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key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if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not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isinstance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key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    </a:t>
            </a: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raise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TypeError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if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0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&lt;=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key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&lt;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len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    </a:t>
            </a: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key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60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232979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Чтение элементов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9" name="Текстовое поле 8"/>
          <p:cNvSpPr txBox="1"/>
          <p:nvPr/>
        </p:nvSpPr>
        <p:spPr>
          <a:xfrm>
            <a:off x="880110" y="2809240"/>
            <a:ext cx="16301720" cy="78530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my_collection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MyCollection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range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my_collection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1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my_collection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30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None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my_collection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"32"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TypeError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697863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Проблемы реализации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9" name="Текстовое поле 8"/>
          <p:cNvSpPr txBox="1"/>
          <p:nvPr/>
        </p:nvSpPr>
        <p:spPr>
          <a:xfrm>
            <a:off x="880110" y="2459355"/>
            <a:ext cx="19823430" cy="95967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MyCollection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ru-RU" altLang="en-US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__init__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ru-RU" altLang="en-US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__contains__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bool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ru-RU" altLang="en-US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__len__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ru-RU" altLang="en-US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__getitem__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key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"getitem"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ru-RU" altLang="en-US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...</a:t>
            </a:r>
            <a:endParaRPr lang="ru-RU" altLang="en-US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ru-RU" altLang="en-US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endParaRPr lang="ru-RU" altLang="en-US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697863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Проблемы реализации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9" name="Текстовое поле 8"/>
          <p:cNvSpPr txBox="1"/>
          <p:nvPr/>
        </p:nvSpPr>
        <p:spPr>
          <a:xfrm>
            <a:off x="880110" y="2825115"/>
            <a:ext cx="19746595" cy="93713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my_collection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MyCollection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range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my_collection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</a:t>
            </a:r>
            <a:r>
              <a:rPr lang="ru-RU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бесконечный цикл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getitem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0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getitem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1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getitem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None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924431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Правильное чтение элементов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9" name="Текстовое поле 8"/>
          <p:cNvSpPr txBox="1"/>
          <p:nvPr/>
        </p:nvSpPr>
        <p:spPr>
          <a:xfrm>
            <a:off x="880110" y="2105025"/>
            <a:ext cx="16924020" cy="101320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from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typing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Iterator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MyCollection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ru-RU" altLang="en-US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ru-RU" altLang="en-US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ru-RU" altLang="en-US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__getitem__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key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not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isinstance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key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raise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TypeError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0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&lt;=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key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&lt;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len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key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raise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IndexError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key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924431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Правильное чтение элементов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9" name="Текстовое поле 8"/>
          <p:cNvSpPr txBox="1"/>
          <p:nvPr/>
        </p:nvSpPr>
        <p:spPr>
          <a:xfrm>
            <a:off x="880110" y="3161030"/>
            <a:ext cx="16285210" cy="73621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my_collection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MyCollection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range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my_collection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0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0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my_collection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0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1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474914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Перезапись элементов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9" name="Текстовое поле 8"/>
          <p:cNvSpPr txBox="1"/>
          <p:nvPr/>
        </p:nvSpPr>
        <p:spPr>
          <a:xfrm>
            <a:off x="880110" y="2105025"/>
            <a:ext cx="21638260" cy="99675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from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typing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Iterator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MyCollection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ru-RU" altLang="en-US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ru-RU" altLang="en-US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ru-RU" altLang="en-US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__setitem__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key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value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not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isinstance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key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raise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TypeError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if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len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 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&lt;=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key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&lt;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0</a:t>
            </a:r>
            <a:r>
              <a:rPr lang="en-US" altLang="ru-RU" sz="5400">
                <a:solidFill>
                  <a:schemeClr val="accent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    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raise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IndexError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key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key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 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value</a:t>
            </a:r>
            <a:endParaRPr lang="en-US" altLang="ru-RU" sz="5400">
              <a:solidFill>
                <a:schemeClr val="accent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474914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Перезапись элементов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9" name="Текстовое поле 8"/>
          <p:cNvSpPr txBox="1"/>
          <p:nvPr/>
        </p:nvSpPr>
        <p:spPr>
          <a:xfrm>
            <a:off x="880110" y="3617595"/>
            <a:ext cx="16115665" cy="70288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my_collection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MyCollection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range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my_collection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0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0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my_collection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0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42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my_collection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0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])</a:t>
            </a:r>
            <a:endParaRPr lang="en-US" altLang="ru-RU" sz="60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42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00000000-1234-1234-1234-123412341234}" type="slidenum">
              <a:rPr lang="en-US" sz="2800" b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fld>
            <a:endParaRPr lang="en-US" sz="28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7" name="Picture 3" descr="C:\Users\Давыдовы\dwhelper\_ФРИЛАНС\МФТИ\Преза ОИ\logo_whit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92603" y="1025352"/>
            <a:ext cx="2016029" cy="731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Группа 2"/>
          <p:cNvGrpSpPr/>
          <p:nvPr/>
        </p:nvGrpSpPr>
        <p:grpSpPr>
          <a:xfrm>
            <a:off x="1137920" y="12258675"/>
            <a:ext cx="1107378" cy="297180"/>
            <a:chOff x="658813" y="5548708"/>
            <a:chExt cx="712787" cy="189326"/>
          </a:xfrm>
        </p:grpSpPr>
        <p:sp>
          <p:nvSpPr>
            <p:cNvPr id="4" name="Овал 3"/>
            <p:cNvSpPr/>
            <p:nvPr/>
          </p:nvSpPr>
          <p:spPr>
            <a:xfrm>
              <a:off x="658813" y="5548708"/>
              <a:ext cx="189326" cy="189326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/>
            </a:p>
          </p:txBody>
        </p:sp>
        <p:sp>
          <p:nvSpPr>
            <p:cNvPr id="5" name="Овал 4"/>
            <p:cNvSpPr/>
            <p:nvPr/>
          </p:nvSpPr>
          <p:spPr>
            <a:xfrm>
              <a:off x="1182274" y="5548708"/>
              <a:ext cx="189326" cy="189326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/>
            </a:p>
          </p:txBody>
        </p:sp>
      </p:grpSp>
      <p:sp>
        <p:nvSpPr>
          <p:cNvPr id="6" name="Овал 5"/>
          <p:cNvSpPr/>
          <p:nvPr/>
        </p:nvSpPr>
        <p:spPr>
          <a:xfrm>
            <a:off x="2722053" y="12258675"/>
            <a:ext cx="294135" cy="29718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3492943" y="12258675"/>
            <a:ext cx="294135" cy="29718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/>
          </a:p>
        </p:txBody>
      </p:sp>
      <p:sp>
        <p:nvSpPr>
          <p:cNvPr id="11" name="Shape 113"/>
          <p:cNvSpPr txBox="1">
            <a:spLocks noGrp="1"/>
          </p:cNvSpPr>
          <p:nvPr/>
        </p:nvSpPr>
        <p:spPr>
          <a:xfrm>
            <a:off x="3513455" y="4050030"/>
            <a:ext cx="18225770" cy="2795905"/>
          </a:xfrm>
          <a:prstGeom prst="rect">
            <a:avLst/>
          </a:prstGeom>
          <a:noFill/>
          <a:ln>
            <a:noFill/>
          </a:ln>
        </p:spPr>
        <p:txBody>
          <a:bodyPr lIns="243800" tIns="243800" rIns="243800" bIns="243800" anchor="ctr" anchorCtr="0">
            <a:noAutofit/>
          </a:bodyPr>
          <a:lstStyle>
            <a:def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+mj-lt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  <a:lvl2pPr algn="ctr">
              <a:spcBef>
                <a:spcPts val="0"/>
              </a:spcBef>
              <a:buClr>
                <a:schemeClr val="dk1"/>
              </a:buClr>
              <a:buSzPct val="100000"/>
              <a:buNone/>
              <a:defRPr sz="9600">
                <a:solidFill>
                  <a:schemeClr val="dk1"/>
                </a:solidFill>
              </a:defRPr>
            </a:lvl2pPr>
            <a:lvl3pPr algn="ctr">
              <a:spcBef>
                <a:spcPts val="0"/>
              </a:spcBef>
              <a:buClr>
                <a:schemeClr val="dk1"/>
              </a:buClr>
              <a:buSzPct val="100000"/>
              <a:buNone/>
              <a:defRPr sz="9600">
                <a:solidFill>
                  <a:schemeClr val="dk1"/>
                </a:solidFill>
              </a:defRPr>
            </a:lvl3pPr>
            <a:lvl4pPr algn="ctr">
              <a:spcBef>
                <a:spcPts val="0"/>
              </a:spcBef>
              <a:buClr>
                <a:schemeClr val="dk1"/>
              </a:buClr>
              <a:buSzPct val="100000"/>
              <a:buNone/>
              <a:defRPr sz="9600">
                <a:solidFill>
                  <a:schemeClr val="dk1"/>
                </a:solidFill>
              </a:defRPr>
            </a:lvl4pPr>
            <a:lvl5pPr algn="ctr">
              <a:spcBef>
                <a:spcPts val="0"/>
              </a:spcBef>
              <a:buClr>
                <a:schemeClr val="dk1"/>
              </a:buClr>
              <a:buSzPct val="100000"/>
              <a:buNone/>
              <a:defRPr sz="9600">
                <a:solidFill>
                  <a:schemeClr val="dk1"/>
                </a:solidFill>
              </a:defRPr>
            </a:lvl5pPr>
            <a:lvl6pPr algn="ctr">
              <a:spcBef>
                <a:spcPts val="0"/>
              </a:spcBef>
              <a:buClr>
                <a:schemeClr val="dk1"/>
              </a:buClr>
              <a:buSzPct val="100000"/>
              <a:buNone/>
              <a:defRPr sz="9600">
                <a:solidFill>
                  <a:schemeClr val="dk1"/>
                </a:solidFill>
              </a:defRPr>
            </a:lvl6pPr>
            <a:lvl7pPr algn="ctr">
              <a:spcBef>
                <a:spcPts val="0"/>
              </a:spcBef>
              <a:buClr>
                <a:schemeClr val="dk1"/>
              </a:buClr>
              <a:buSzPct val="100000"/>
              <a:buNone/>
              <a:defRPr sz="9600">
                <a:solidFill>
                  <a:schemeClr val="dk1"/>
                </a:solidFill>
              </a:defRPr>
            </a:lvl7pPr>
            <a:lvl8pPr algn="ctr">
              <a:spcBef>
                <a:spcPts val="0"/>
              </a:spcBef>
              <a:buClr>
                <a:schemeClr val="dk1"/>
              </a:buClr>
              <a:buSzPct val="100000"/>
              <a:buNone/>
              <a:defRPr sz="9600">
                <a:solidFill>
                  <a:schemeClr val="dk1"/>
                </a:solidFill>
              </a:defRPr>
            </a:lvl8pPr>
            <a:lvl9pPr algn="ctr">
              <a:spcBef>
                <a:spcPts val="0"/>
              </a:spcBef>
              <a:buClr>
                <a:schemeClr val="dk1"/>
              </a:buClr>
              <a:buSzPct val="100000"/>
              <a:buNone/>
              <a:defRPr sz="9600">
                <a:solidFill>
                  <a:schemeClr val="dk1"/>
                </a:solidFill>
              </a:defRPr>
            </a:lvl9pPr>
          </a:lstStyle>
          <a:p>
            <a:pPr algn="l"/>
            <a:r>
              <a:rPr lang="ru-RU" sz="8535" dirty="0" smtClean="0">
                <a:solidFill>
                  <a:schemeClr val="bg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Семинар</a:t>
            </a:r>
            <a:endParaRPr lang="ru-RU" sz="8535" dirty="0" smtClean="0">
              <a:solidFill>
                <a:schemeClr val="bg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heme/theme1.xml><?xml version="1.0" encoding="utf-8"?>
<a:theme xmlns:a="http://schemas.openxmlformats.org/drawingml/2006/main" name="simple-light-2">
  <a:themeElements>
    <a:clrScheme name="МФТИ">
      <a:dk1>
        <a:srgbClr val="525252"/>
      </a:dk1>
      <a:lt1>
        <a:srgbClr val="FFFFFF"/>
      </a:lt1>
      <a:dk2>
        <a:srgbClr val="525252"/>
      </a:dk2>
      <a:lt2>
        <a:srgbClr val="FFFFFF"/>
      </a:lt2>
      <a:accent1>
        <a:srgbClr val="0072BC"/>
      </a:accent1>
      <a:accent2>
        <a:srgbClr val="525252"/>
      </a:accent2>
      <a:accent3>
        <a:srgbClr val="7C7C7C"/>
      </a:accent3>
      <a:accent4>
        <a:srgbClr val="FFAB40"/>
      </a:accent4>
      <a:accent5>
        <a:srgbClr val="0072BC"/>
      </a:accent5>
      <a:accent6>
        <a:srgbClr val="525252"/>
      </a:accent6>
      <a:hlink>
        <a:srgbClr val="FFAB40"/>
      </a:hlink>
      <a:folHlink>
        <a:srgbClr val="92C5EB"/>
      </a:folHlink>
    </a:clrScheme>
    <a:fontScheme name="МФТИ">
      <a:majorFont>
        <a:latin typeface="Arial Black"/>
        <a:ea typeface=""/>
        <a:cs typeface=""/>
      </a:majorFont>
      <a:minorFont>
        <a:latin typeface="Franklin Gothic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15213</Words>
  <Application>WPS Presentation</Application>
  <PresentationFormat>Произвольный</PresentationFormat>
  <Paragraphs>1051</Paragraphs>
  <Slides>69</Slides>
  <Notes>10</Notes>
  <HiddenSlides>0</HiddenSlides>
  <MMClips>2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69</vt:i4>
      </vt:variant>
    </vt:vector>
  </HeadingPairs>
  <TitlesOfParts>
    <vt:vector size="82" baseType="lpstr">
      <vt:lpstr>Arial</vt:lpstr>
      <vt:lpstr>SimSun</vt:lpstr>
      <vt:lpstr>Wingdings</vt:lpstr>
      <vt:lpstr>Arial</vt:lpstr>
      <vt:lpstr>Segoe UI</vt:lpstr>
      <vt:lpstr>Arial Black</vt:lpstr>
      <vt:lpstr>Tahoma</vt:lpstr>
      <vt:lpstr>Franklin Gothic Book</vt:lpstr>
      <vt:lpstr>Consolas</vt:lpstr>
      <vt:lpstr>Microsoft YaHei</vt:lpstr>
      <vt:lpstr>Arial Unicode MS</vt:lpstr>
      <vt:lpstr>Times New Roman</vt:lpstr>
      <vt:lpstr>simple-light-2</vt:lpstr>
      <vt:lpstr>Коллекции и их протоколы</vt:lpstr>
      <vt:lpstr>Общие протоколы</vt:lpstr>
      <vt:lpstr>Протокол контейнера</vt:lpstr>
      <vt:lpstr>Введение</vt:lpstr>
      <vt:lpstr>Геометрические фигуры</vt:lpstr>
      <vt:lpstr>Геометрические фигуры</vt:lpstr>
      <vt:lpstr>Проблеманя функция</vt:lpstr>
      <vt:lpstr>В чем проблема?</vt:lpstr>
      <vt:lpstr>Используем функцию</vt:lpstr>
      <vt:lpstr>Последствия</vt:lpstr>
      <vt:lpstr>Абстрактные классы</vt:lpstr>
      <vt:lpstr>Абстрактные классы</vt:lpstr>
      <vt:lpstr>Инстанцирование</vt:lpstr>
      <vt:lpstr>Использование абстракций</vt:lpstr>
      <vt:lpstr>Использование абстракций</vt:lpstr>
      <vt:lpstr>Использование абстракций</vt:lpstr>
      <vt:lpstr>Исправление ошибок</vt:lpstr>
      <vt:lpstr>Используем функцию</vt:lpstr>
      <vt:lpstr>Итоговое решение</vt:lpstr>
      <vt:lpstr>Минусы абстрактных классов</vt:lpstr>
      <vt:lpstr>Протоколы</vt:lpstr>
      <vt:lpstr>Протоколы</vt:lpstr>
      <vt:lpstr>Геометрические фигуры</vt:lpstr>
      <vt:lpstr>Исправление ошибок</vt:lpstr>
      <vt:lpstr>Итоговое решение</vt:lpstr>
      <vt:lpstr>Итоговое решение</vt:lpstr>
      <vt:lpstr>Абстракции и протоколы</vt:lpstr>
      <vt:lpstr>Протокол контейнера</vt:lpstr>
      <vt:lpstr>Реализация контейнера</vt:lpstr>
      <vt:lpstr>Допустимые действия</vt:lpstr>
      <vt:lpstr>Недопустимые действия</vt:lpstr>
      <vt:lpstr>Протокол итерируемого объекта</vt:lpstr>
      <vt:lpstr>Реализация итерируемого объекта</vt:lpstr>
      <vt:lpstr>Допустимые действия</vt:lpstr>
      <vt:lpstr>Недопустимые действия</vt:lpstr>
      <vt:lpstr>Связь __iter__ и __contains__</vt:lpstr>
      <vt:lpstr>Неверная реализация</vt:lpstr>
      <vt:lpstr>Протокол итератора</vt:lpstr>
      <vt:lpstr>Попытка реализации #1</vt:lpstr>
      <vt:lpstr>Проблемы реализации</vt:lpstr>
      <vt:lpstr>Попытка реализации #2</vt:lpstr>
      <vt:lpstr>Проблемы решены?</vt:lpstr>
      <vt:lpstr>Да будут новые проблемы!</vt:lpstr>
      <vt:lpstr>Попытка реализации #3</vt:lpstr>
      <vt:lpstr>Ну теперь-то решены?</vt:lpstr>
      <vt:lpstr>Итератор и объектная модель</vt:lpstr>
      <vt:lpstr>Финальная реализация</vt:lpstr>
      <vt:lpstr>Финальная реализация</vt:lpstr>
      <vt:lpstr>Финальная реализация</vt:lpstr>
      <vt:lpstr>StopIteration и секрет цикла for</vt:lpstr>
      <vt:lpstr>Протокол объекта с размером</vt:lpstr>
      <vt:lpstr>Реализация объекта с размером</vt:lpstr>
      <vt:lpstr>Недопустимые действия</vt:lpstr>
      <vt:lpstr>Ограничения</vt:lpstr>
      <vt:lpstr>__len__ и __bool__</vt:lpstr>
      <vt:lpstr>__len__ и __bool__</vt:lpstr>
      <vt:lpstr>Основные протоколы</vt:lpstr>
      <vt:lpstr>Протокол коллекции</vt:lpstr>
      <vt:lpstr>Реализация коллекции</vt:lpstr>
      <vt:lpstr>Допустимые действия</vt:lpstr>
      <vt:lpstr>Чтение элементов</vt:lpstr>
      <vt:lpstr>Чтение элементов</vt:lpstr>
      <vt:lpstr>Проблемы реализации</vt:lpstr>
      <vt:lpstr>Проблемы реализации</vt:lpstr>
      <vt:lpstr>Правильное чтение элементов</vt:lpstr>
      <vt:lpstr>Правильное чтение элементов</vt:lpstr>
      <vt:lpstr>Перезапись элементов</vt:lpstr>
      <vt:lpstr>Перезапись элементов</vt:lpstr>
      <vt:lpstr>Семинар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MIPT / Phystech</dc:title>
  <dc:creator>Marina</dc:creator>
  <cp:lastModifiedBy>Michail Evgrafov</cp:lastModifiedBy>
  <cp:revision>1034</cp:revision>
  <dcterms:created xsi:type="dcterms:W3CDTF">2023-09-07T15:23:00Z</dcterms:created>
  <dcterms:modified xsi:type="dcterms:W3CDTF">2025-12-03T22:07:04Z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939A7A65A70D42D3AFBDFCFAB1B7D962_12</vt:lpwstr>
  </property>
  <property fmtid="{D5CDD505-2E9C-101B-9397-08002B2CF9AE}" pid="3" name="KSOProductBuildVer">
    <vt:lpwstr>1049-12.2.0.23155</vt:lpwstr>
  </property>
</Properties>
</file>