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</p:sldMasterIdLst>
  <p:notesMasterIdLst>
    <p:notesMasterId r:id="rId5"/>
  </p:notesMasterIdLst>
  <p:sldIdLst>
    <p:sldId id="306" r:id="rId3"/>
    <p:sldId id="601" r:id="rId4"/>
    <p:sldId id="772" r:id="rId6"/>
    <p:sldId id="773" r:id="rId7"/>
    <p:sldId id="774" r:id="rId8"/>
    <p:sldId id="775" r:id="rId9"/>
    <p:sldId id="776" r:id="rId10"/>
    <p:sldId id="777" r:id="rId11"/>
    <p:sldId id="779" r:id="rId12"/>
    <p:sldId id="780" r:id="rId13"/>
    <p:sldId id="781" r:id="rId14"/>
    <p:sldId id="782" r:id="rId15"/>
    <p:sldId id="783" r:id="rId16"/>
    <p:sldId id="784" r:id="rId17"/>
    <p:sldId id="785" r:id="rId18"/>
    <p:sldId id="786" r:id="rId19"/>
    <p:sldId id="788" r:id="rId20"/>
    <p:sldId id="791" r:id="rId21"/>
    <p:sldId id="792" r:id="rId22"/>
    <p:sldId id="793" r:id="rId23"/>
    <p:sldId id="794" r:id="rId24"/>
    <p:sldId id="795" r:id="rId25"/>
    <p:sldId id="797" r:id="rId26"/>
    <p:sldId id="799" r:id="rId27"/>
    <p:sldId id="800" r:id="rId28"/>
    <p:sldId id="801" r:id="rId29"/>
    <p:sldId id="802" r:id="rId30"/>
    <p:sldId id="727" r:id="rId31"/>
    <p:sldId id="729" r:id="rId32"/>
    <p:sldId id="730" r:id="rId33"/>
    <p:sldId id="733" r:id="rId34"/>
    <p:sldId id="732" r:id="rId35"/>
    <p:sldId id="734" r:id="rId36"/>
    <p:sldId id="735" r:id="rId37"/>
    <p:sldId id="736" r:id="rId38"/>
    <p:sldId id="737" r:id="rId39"/>
    <p:sldId id="738" r:id="rId40"/>
    <p:sldId id="739" r:id="rId41"/>
    <p:sldId id="740" r:id="rId42"/>
    <p:sldId id="741" r:id="rId43"/>
    <p:sldId id="742" r:id="rId44"/>
    <p:sldId id="743" r:id="rId45"/>
    <p:sldId id="744" r:id="rId46"/>
    <p:sldId id="745" r:id="rId47"/>
    <p:sldId id="746" r:id="rId48"/>
    <p:sldId id="747" r:id="rId49"/>
    <p:sldId id="748" r:id="rId50"/>
    <p:sldId id="749" r:id="rId51"/>
    <p:sldId id="750" r:id="rId52"/>
    <p:sldId id="752" r:id="rId53"/>
    <p:sldId id="753" r:id="rId54"/>
    <p:sldId id="754" r:id="rId55"/>
    <p:sldId id="755" r:id="rId56"/>
    <p:sldId id="757" r:id="rId57"/>
    <p:sldId id="758" r:id="rId58"/>
    <p:sldId id="759" r:id="rId59"/>
    <p:sldId id="803" r:id="rId60"/>
    <p:sldId id="760" r:id="rId61"/>
    <p:sldId id="762" r:id="rId62"/>
    <p:sldId id="763" r:id="rId63"/>
    <p:sldId id="764" r:id="rId64"/>
    <p:sldId id="765" r:id="rId65"/>
    <p:sldId id="766" r:id="rId66"/>
    <p:sldId id="767" r:id="rId67"/>
    <p:sldId id="768" r:id="rId68"/>
    <p:sldId id="769" r:id="rId69"/>
    <p:sldId id="770" r:id="rId70"/>
    <p:sldId id="771" r:id="rId71"/>
    <p:sldId id="804" r:id="rId72"/>
  </p:sldIdLst>
  <p:sldSz cx="24742775" cy="13716000"/>
  <p:notesSz cx="6858000" cy="9144000"/>
  <p:defaultTextStyle>
    <a:defPPr marR="0" algn="l" rtl="0">
      <a:lnSpc>
        <a:spcPct val="100000"/>
      </a:lnSpc>
      <a:spcBef>
        <a:spcPts val="0"/>
      </a:spcBef>
      <a:spcAft>
        <a:spcPts val="0"/>
      </a:spcAft>
    </a:defPPr>
    <a:lvl1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algn="l" rtl="0">
      <a:lnSpc>
        <a:spcPct val="100000"/>
      </a:lnSpc>
      <a:spcBef>
        <a:spcPts val="0"/>
      </a:spcBef>
      <a:spcAft>
        <a:spcPts val="0"/>
      </a:spcAft>
      <a:buNone/>
      <a:defRPr sz="3770" b="0" i="0" u="none" strike="noStrike" cap="none" baseline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CCCB284-FAD9-4ACF-BBE5-987686199942}">
          <p14:sldIdLst>
            <p14:sldId id="306"/>
            <p14:sldId id="601"/>
            <p14:sldId id="772"/>
            <p14:sldId id="773"/>
            <p14:sldId id="774"/>
            <p14:sldId id="775"/>
            <p14:sldId id="776"/>
            <p14:sldId id="777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8"/>
            <p14:sldId id="791"/>
            <p14:sldId id="792"/>
            <p14:sldId id="793"/>
            <p14:sldId id="794"/>
            <p14:sldId id="795"/>
            <p14:sldId id="797"/>
            <p14:sldId id="799"/>
            <p14:sldId id="800"/>
            <p14:sldId id="801"/>
            <p14:sldId id="802"/>
            <p14:sldId id="727"/>
            <p14:sldId id="729"/>
            <p14:sldId id="730"/>
            <p14:sldId id="733"/>
            <p14:sldId id="732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47"/>
            <p14:sldId id="748"/>
            <p14:sldId id="749"/>
            <p14:sldId id="750"/>
            <p14:sldId id="752"/>
            <p14:sldId id="753"/>
            <p14:sldId id="754"/>
            <p14:sldId id="755"/>
            <p14:sldId id="757"/>
            <p14:sldId id="758"/>
            <p14:sldId id="759"/>
            <p14:sldId id="803"/>
            <p14:sldId id="760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804"/>
          </p14:sldIdLst>
        </p14:section>
        <p14:section name="Раздел без заголовка" id="{F03BB59A-273A-4306-BA96-E51F876B3C4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555" userDrawn="1">
          <p15:clr>
            <a:srgbClr val="A4A3A4"/>
          </p15:clr>
        </p15:guide>
        <p15:guide id="2" pos="7926" userDrawn="1">
          <p15:clr>
            <a:srgbClr val="A4A3A4"/>
          </p15:clr>
        </p15:guide>
        <p15:guide id="4" pos="10374" userDrawn="1">
          <p15:clr>
            <a:srgbClr val="A4A3A4"/>
          </p15:clr>
        </p15:guide>
        <p15:guide id="5" pos="5464" userDrawn="1">
          <p15:clr>
            <a:srgbClr val="A4A3A4"/>
          </p15:clr>
        </p15:guide>
        <p15:guide id="7" pos="626" userDrawn="1">
          <p15:clr>
            <a:srgbClr val="A4A3A4"/>
          </p15:clr>
        </p15:guide>
        <p15:guide id="8" pos="14908" userDrawn="1">
          <p15:clr>
            <a:srgbClr val="A4A3A4"/>
          </p15:clr>
        </p15:guide>
        <p15:guide id="12" orient="horz" pos="8036" userDrawn="1">
          <p15:clr>
            <a:srgbClr val="A4A3A4"/>
          </p15:clr>
        </p15:guide>
        <p15:guide id="13" orient="horz" pos="1800" userDrawn="1">
          <p15:clr>
            <a:srgbClr val="A4A3A4"/>
          </p15:clr>
        </p15:guide>
        <p15:guide id="14" pos="11249" userDrawn="1">
          <p15:clr>
            <a:srgbClr val="A4A3A4"/>
          </p15:clr>
        </p15:guide>
        <p15:guide id="15" pos="4269" userDrawn="1">
          <p15:clr>
            <a:srgbClr val="A4A3A4"/>
          </p15:clr>
        </p15:guide>
        <p15:guide id="16" orient="horz" pos="255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B683"/>
    <a:srgbClr val="0072BC"/>
    <a:srgbClr val="C09D29"/>
    <a:srgbClr val="3E3E3E"/>
    <a:srgbClr val="E3C496"/>
    <a:srgbClr val="EDDBAD"/>
    <a:srgbClr val="BCD6FD"/>
    <a:srgbClr val="CC4E3F"/>
    <a:srgbClr val="525252"/>
    <a:srgbClr val="680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6395" autoAdjust="0"/>
  </p:normalViewPr>
  <p:slideViewPr>
    <p:cSldViewPr showGuides="1">
      <p:cViewPr varScale="1">
        <p:scale>
          <a:sx n="58" d="100"/>
          <a:sy n="58" d="100"/>
        </p:scale>
        <p:origin x="408" y="108"/>
      </p:cViewPr>
      <p:guideLst>
        <p:guide orient="horz" pos="555"/>
        <p:guide pos="7926"/>
        <p:guide pos="10374"/>
        <p:guide pos="5464"/>
        <p:guide pos="626"/>
        <p:guide pos="14908"/>
        <p:guide orient="horz" pos="8036"/>
        <p:guide orient="horz" pos="1800"/>
        <p:guide pos="11249"/>
        <p:guide pos="4269"/>
        <p:guide orient="horz" pos="2551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-73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6" Type="http://schemas.openxmlformats.org/officeDocument/2006/relationships/commentAuthors" Target="commentAuthors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" name="Shape 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1pPr>
    <a:lvl2pPr marL="123063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2pPr>
    <a:lvl3pPr marL="246062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3pPr>
    <a:lvl4pPr marL="369125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4pPr>
    <a:lvl5pPr marL="492188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5pPr>
    <a:lvl6pPr marL="6152515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6pPr>
    <a:lvl7pPr marL="738251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7pPr>
    <a:lvl8pPr marL="861314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8pPr>
    <a:lvl9pPr marL="9843770" algn="l" defTabSz="2460625" rtl="0" eaLnBrk="1" latinLnBrk="0" hangingPunct="1">
      <a:defRPr sz="323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36550" y="685800"/>
            <a:ext cx="61849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subTitle" idx="1"/>
          </p:nvPr>
        </p:nvSpPr>
        <p:spPr>
          <a:xfrm>
            <a:off x="843437" y="7768736"/>
            <a:ext cx="23055913" cy="3121712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5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7465"/>
            </a:lvl9pPr>
          </a:lstStyle>
          <a:p>
            <a:endParaRPr dirty="0"/>
          </a:p>
        </p:txBody>
      </p:sp>
      <p:sp>
        <p:nvSpPr>
          <p:cNvPr id="9" name="Shape 9"/>
          <p:cNvSpPr txBox="1">
            <a:spLocks noGrp="1"/>
          </p:cNvSpPr>
          <p:nvPr>
            <p:ph type="ctrTitle"/>
          </p:nvPr>
        </p:nvSpPr>
        <p:spPr>
          <a:xfrm>
            <a:off x="843456" y="2753544"/>
            <a:ext cx="23055913" cy="4464497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algn="ctr">
              <a:spcBef>
                <a:spcPts val="0"/>
              </a:spcBef>
              <a:buSzPct val="100000"/>
              <a:defRPr sz="130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13865"/>
            </a:lvl2pPr>
            <a:lvl3pPr algn="ctr">
              <a:spcBef>
                <a:spcPts val="0"/>
              </a:spcBef>
              <a:buSzPct val="100000"/>
              <a:defRPr sz="13865"/>
            </a:lvl3pPr>
            <a:lvl4pPr algn="ctr">
              <a:spcBef>
                <a:spcPts val="0"/>
              </a:spcBef>
              <a:buSzPct val="100000"/>
              <a:defRPr sz="13865"/>
            </a:lvl4pPr>
            <a:lvl5pPr algn="ctr">
              <a:spcBef>
                <a:spcPts val="0"/>
              </a:spcBef>
              <a:buSzPct val="100000"/>
              <a:defRPr sz="13865"/>
            </a:lvl5pPr>
            <a:lvl6pPr algn="ctr">
              <a:spcBef>
                <a:spcPts val="0"/>
              </a:spcBef>
              <a:buSzPct val="100000"/>
              <a:defRPr sz="13865"/>
            </a:lvl6pPr>
            <a:lvl7pPr algn="ctr">
              <a:spcBef>
                <a:spcPts val="0"/>
              </a:spcBef>
              <a:buSzPct val="100000"/>
              <a:defRPr sz="13865"/>
            </a:lvl7pPr>
            <a:lvl8pPr algn="ctr">
              <a:spcBef>
                <a:spcPts val="0"/>
              </a:spcBef>
              <a:buSzPct val="100000"/>
              <a:defRPr sz="13865"/>
            </a:lvl8pPr>
            <a:lvl9pPr algn="ctr">
              <a:spcBef>
                <a:spcPts val="0"/>
              </a:spcBef>
              <a:buSzPct val="100000"/>
              <a:defRPr sz="13865"/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843437" y="5705872"/>
            <a:ext cx="23055913" cy="2244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SzPct val="100000"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SzPct val="100000"/>
              <a:defRPr sz="9600"/>
            </a:lvl2pPr>
            <a:lvl3pPr algn="ctr">
              <a:spcBef>
                <a:spcPts val="0"/>
              </a:spcBef>
              <a:buSzPct val="100000"/>
              <a:defRPr sz="9600"/>
            </a:lvl3pPr>
            <a:lvl4pPr algn="ctr">
              <a:spcBef>
                <a:spcPts val="0"/>
              </a:spcBef>
              <a:buSzPct val="100000"/>
              <a:defRPr sz="9600"/>
            </a:lvl4pPr>
            <a:lvl5pPr algn="ctr">
              <a:spcBef>
                <a:spcPts val="0"/>
              </a:spcBef>
              <a:buSzPct val="100000"/>
              <a:defRPr sz="9600"/>
            </a:lvl5pPr>
            <a:lvl6pPr algn="ctr">
              <a:spcBef>
                <a:spcPts val="0"/>
              </a:spcBef>
              <a:buSzPct val="100000"/>
              <a:defRPr sz="9600"/>
            </a:lvl6pPr>
            <a:lvl7pPr algn="ctr">
              <a:spcBef>
                <a:spcPts val="0"/>
              </a:spcBef>
              <a:buSzPct val="100000"/>
              <a:defRPr sz="9600"/>
            </a:lvl7pPr>
            <a:lvl8pPr algn="ctr">
              <a:spcBef>
                <a:spcPts val="0"/>
              </a:spcBef>
              <a:buSzPct val="100000"/>
              <a:defRPr sz="9600"/>
            </a:lvl8pPr>
            <a:lvl9pPr algn="ctr">
              <a:spcBef>
                <a:spcPts val="0"/>
              </a:spcBef>
              <a:buSzPct val="100000"/>
              <a:defRPr sz="9600"/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r"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8" name="Shape 17"/>
          <p:cNvSpPr txBox="1">
            <a:spLocks noGrp="1"/>
          </p:cNvSpPr>
          <p:nvPr>
            <p:ph type="body" idx="13"/>
          </p:nvPr>
        </p:nvSpPr>
        <p:spPr>
          <a:xfrm>
            <a:off x="857782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17"/>
          <p:cNvSpPr txBox="1">
            <a:spLocks noGrp="1"/>
          </p:cNvSpPr>
          <p:nvPr>
            <p:ph type="body" idx="14"/>
          </p:nvPr>
        </p:nvSpPr>
        <p:spPr>
          <a:xfrm>
            <a:off x="16224001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8661" y="560919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35755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10791982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2469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5" name="Shape 17"/>
          <p:cNvSpPr txBox="1">
            <a:spLocks noGrp="1"/>
          </p:cNvSpPr>
          <p:nvPr>
            <p:ph type="body" idx="13"/>
          </p:nvPr>
        </p:nvSpPr>
        <p:spPr>
          <a:xfrm>
            <a:off x="12257658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17"/>
          <p:cNvSpPr txBox="1">
            <a:spLocks noGrp="1"/>
          </p:cNvSpPr>
          <p:nvPr>
            <p:ph type="body" idx="14"/>
          </p:nvPr>
        </p:nvSpPr>
        <p:spPr>
          <a:xfrm>
            <a:off x="6603504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1" name="Shape 17"/>
          <p:cNvSpPr txBox="1">
            <a:spLocks noGrp="1"/>
          </p:cNvSpPr>
          <p:nvPr>
            <p:ph type="body" idx="15"/>
          </p:nvPr>
        </p:nvSpPr>
        <p:spPr>
          <a:xfrm>
            <a:off x="17892761" y="3905250"/>
            <a:ext cx="5320208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None/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"/>
          <p:cNvSpPr>
            <a:spLocks noGrp="1"/>
          </p:cNvSpPr>
          <p:nvPr>
            <p:ph type="pic" idx="13"/>
          </p:nvPr>
        </p:nvSpPr>
        <p:spPr>
          <a:xfrm>
            <a:off x="86905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idx="15"/>
          </p:nvPr>
        </p:nvSpPr>
        <p:spPr>
          <a:xfrm>
            <a:off x="16352395" y="4081463"/>
            <a:ext cx="7244730" cy="579173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79931" y="557213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7119574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Shape 17"/>
          <p:cNvSpPr txBox="1">
            <a:spLocks noGrp="1"/>
          </p:cNvSpPr>
          <p:nvPr>
            <p:ph type="body" idx="14"/>
          </p:nvPr>
        </p:nvSpPr>
        <p:spPr>
          <a:xfrm>
            <a:off x="85804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Shape 17"/>
          <p:cNvSpPr txBox="1">
            <a:spLocks noGrp="1"/>
          </p:cNvSpPr>
          <p:nvPr>
            <p:ph type="body" idx="16"/>
          </p:nvPr>
        </p:nvSpPr>
        <p:spPr>
          <a:xfrm>
            <a:off x="16242286" y="10029025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8226152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7" name="Рисунок 2"/>
          <p:cNvSpPr>
            <a:spLocks noGrp="1"/>
          </p:cNvSpPr>
          <p:nvPr>
            <p:ph type="pic" idx="17"/>
          </p:nvPr>
        </p:nvSpPr>
        <p:spPr>
          <a:xfrm>
            <a:off x="18017851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35" name="Рисунок 2"/>
          <p:cNvSpPr>
            <a:spLocks noGrp="1"/>
          </p:cNvSpPr>
          <p:nvPr>
            <p:ph type="pic" idx="15"/>
          </p:nvPr>
        </p:nvSpPr>
        <p:spPr>
          <a:xfrm>
            <a:off x="12371387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idx="13"/>
          </p:nvPr>
        </p:nvSpPr>
        <p:spPr>
          <a:xfrm>
            <a:off x="6720856" y="4090987"/>
            <a:ext cx="5233019" cy="31384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20" name="Shape 17"/>
          <p:cNvSpPr txBox="1">
            <a:spLocks noGrp="1"/>
          </p:cNvSpPr>
          <p:nvPr>
            <p:ph type="body" idx="14"/>
          </p:nvPr>
        </p:nvSpPr>
        <p:spPr>
          <a:xfrm>
            <a:off x="6610747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6" name="Shape 17"/>
          <p:cNvSpPr txBox="1">
            <a:spLocks noGrp="1"/>
          </p:cNvSpPr>
          <p:nvPr>
            <p:ph type="body" idx="16"/>
          </p:nvPr>
        </p:nvSpPr>
        <p:spPr>
          <a:xfrm>
            <a:off x="12261278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38" name="Shape 17"/>
          <p:cNvSpPr txBox="1">
            <a:spLocks noGrp="1"/>
          </p:cNvSpPr>
          <p:nvPr>
            <p:ph type="body" idx="18"/>
          </p:nvPr>
        </p:nvSpPr>
        <p:spPr>
          <a:xfrm>
            <a:off x="17907742" y="7385298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Рисунок 2"/>
          <p:cNvSpPr>
            <a:spLocks noGrp="1"/>
          </p:cNvSpPr>
          <p:nvPr>
            <p:ph type="pic" idx="20"/>
          </p:nvPr>
        </p:nvSpPr>
        <p:spPr>
          <a:xfrm>
            <a:off x="12371387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4" name="Рисунок 2"/>
          <p:cNvSpPr>
            <a:spLocks noGrp="1"/>
          </p:cNvSpPr>
          <p:nvPr>
            <p:ph type="pic" idx="21"/>
          </p:nvPr>
        </p:nvSpPr>
        <p:spPr>
          <a:xfrm>
            <a:off x="6720856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2" name="Рисунок 2"/>
          <p:cNvSpPr>
            <a:spLocks noGrp="1"/>
          </p:cNvSpPr>
          <p:nvPr>
            <p:ph type="pic" idx="19"/>
          </p:nvPr>
        </p:nvSpPr>
        <p:spPr>
          <a:xfrm>
            <a:off x="18017851" y="4084320"/>
            <a:ext cx="5226744" cy="72803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883251" y="560160"/>
            <a:ext cx="23093252" cy="295232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7" name="Shape 17"/>
          <p:cNvSpPr txBox="1">
            <a:spLocks noGrp="1"/>
          </p:cNvSpPr>
          <p:nvPr>
            <p:ph type="body" idx="1"/>
          </p:nvPr>
        </p:nvSpPr>
        <p:spPr>
          <a:xfrm>
            <a:off x="931333" y="3905250"/>
            <a:ext cx="5317067" cy="8187399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3200" b="0" i="0" u="none" strike="noStrike" cap="none" spc="-5" baseline="0" dirty="0">
                <a:solidFill>
                  <a:schemeClr val="dk2"/>
                </a:solidFill>
                <a:latin typeface="+mn-lt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8" name="Shape 18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marR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1" i="0" u="none" strike="noStrike" cap="none" baseline="0" smtClean="0">
                <a:solidFill>
                  <a:srgbClr val="92C5EB"/>
                </a:solidFill>
                <a:latin typeface="Segoe UI" panose="020B0502040204020203" pitchFamily="34" charset="0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</a:lstStyle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45" name="Shape 17"/>
          <p:cNvSpPr txBox="1">
            <a:spLocks noGrp="1"/>
          </p:cNvSpPr>
          <p:nvPr>
            <p:ph type="body" idx="22"/>
          </p:nvPr>
        </p:nvSpPr>
        <p:spPr>
          <a:xfrm>
            <a:off x="6610747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6" name="Shape 17"/>
          <p:cNvSpPr txBox="1">
            <a:spLocks noGrp="1"/>
          </p:cNvSpPr>
          <p:nvPr>
            <p:ph type="body" idx="23"/>
          </p:nvPr>
        </p:nvSpPr>
        <p:spPr>
          <a:xfrm>
            <a:off x="12261278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47" name="Shape 17"/>
          <p:cNvSpPr txBox="1">
            <a:spLocks noGrp="1"/>
          </p:cNvSpPr>
          <p:nvPr>
            <p:ph type="body" idx="24"/>
          </p:nvPr>
        </p:nvSpPr>
        <p:spPr>
          <a:xfrm>
            <a:off x="17907742" y="11520463"/>
            <a:ext cx="5472608" cy="792088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lnSpc>
                <a:spcPct val="100000"/>
              </a:lnSpc>
              <a:spcBef>
                <a:spcPts val="0"/>
              </a:spcBef>
              <a:defRPr sz="2000" b="0" i="1" u="none" strike="noStrike" cap="none" spc="-5" baseline="0" dirty="0">
                <a:solidFill>
                  <a:schemeClr val="accent3">
                    <a:lumMod val="75000"/>
                  </a:schemeClr>
                </a:solidFill>
                <a:latin typeface="Franklin Gothic Book" panose="020B0503020102020204" pitchFamily="34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571388" y="720000"/>
            <a:ext cx="21600000" cy="1440000"/>
          </a:xfrm>
        </p:spPr>
        <p:txBody>
          <a:bodyPr lIns="0" tIns="0" rIns="0" bIns="0"/>
          <a:lstStyle>
            <a:lvl1pPr algn="ctr" fontAlgn="base">
              <a:defRPr sz="6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1403388" y="12628800"/>
            <a:ext cx="540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8411388" y="12628800"/>
            <a:ext cx="7920000" cy="633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"/>
          <p:cNvSpPr txBox="1">
            <a:spLocks noGrp="1"/>
          </p:cNvSpPr>
          <p:nvPr>
            <p:ph type="title"/>
          </p:nvPr>
        </p:nvSpPr>
        <p:spPr>
          <a:xfrm>
            <a:off x="843437" y="1186742"/>
            <a:ext cx="23055913" cy="15271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843437" y="3073267"/>
            <a:ext cx="23055913" cy="9110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" name="Shape 7"/>
          <p:cNvSpPr txBox="1">
            <a:spLocks noGrp="1"/>
          </p:cNvSpPr>
          <p:nvPr>
            <p:ph type="sldNum" idx="12"/>
          </p:nvPr>
        </p:nvSpPr>
        <p:spPr>
          <a:xfrm>
            <a:off x="22925650" y="12435243"/>
            <a:ext cx="1484726" cy="1049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algn="r"/>
            <a:fld id="{00000000-1234-1234-1234-123412341234}" type="slidenum">
              <a:rPr lang="en-US" sz="2665" smtClean="0">
                <a:solidFill>
                  <a:schemeClr val="dk2"/>
                </a:solidFill>
              </a:rPr>
            </a:fld>
            <a:endParaRPr lang="en-US" sz="2665">
              <a:solidFill>
                <a:schemeClr val="dk2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</p:titleStyle>
    <p:body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algn="l" rtl="0">
        <a:lnSpc>
          <a:spcPct val="100000"/>
        </a:lnSpc>
        <a:spcBef>
          <a:spcPts val="0"/>
        </a:spcBef>
        <a:spcAft>
          <a:spcPts val="0"/>
        </a:spcAft>
      </a:defPPr>
      <a:lvl1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algn="l" rtl="0">
        <a:lnSpc>
          <a:spcPct val="100000"/>
        </a:lnSpc>
        <a:spcBef>
          <a:spcPts val="0"/>
        </a:spcBef>
        <a:spcAft>
          <a:spcPts val="0"/>
        </a:spcAft>
        <a:buNone/>
        <a:defRPr sz="3735" b="0" i="0" u="none" strike="noStrike" cap="none" baseline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11722735" y="11754485"/>
            <a:ext cx="12978130" cy="1567815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Докладчик: Евграфов Михаил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6971665" y="4625975"/>
            <a:ext cx="10799445" cy="359537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ru-RU" altLang="en-US" sz="9600" dirty="0">
                <a:solidFill>
                  <a:schemeClr val="bg1"/>
                </a:solidFill>
              </a:rPr>
              <a:t>П</a:t>
            </a:r>
            <a:r>
              <a:rPr lang="ru-RU" sz="9600" dirty="0">
                <a:solidFill>
                  <a:schemeClr val="bg1"/>
                </a:solidFill>
              </a:rPr>
              <a:t>ротоколы в </a:t>
            </a:r>
            <a:r>
              <a:rPr lang="en-US" sz="9600" dirty="0">
                <a:solidFill>
                  <a:schemeClr val="bg1"/>
                </a:solidFill>
              </a:rPr>
              <a:t>Python</a:t>
            </a:r>
            <a:endParaRPr lang="en-US" sz="9600" dirty="0">
              <a:solidFill>
                <a:schemeClr val="bg1"/>
              </a:solidFill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8371" y="1025352"/>
            <a:ext cx="2437777" cy="73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4387215" y="4049395"/>
            <a:ext cx="15968345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Абстракции и протоколы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49294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83601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Проблеманя функция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4121785"/>
            <a:ext cx="22044660" cy="512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"area: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"perimeter: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289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Геометрические фигуры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537460"/>
            <a:ext cx="16560165" cy="924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dataclasses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dataclass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+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endParaRPr lang="en-US" altLang="ru-RU" sz="4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289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Геометрические фигуры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537460"/>
            <a:ext cx="16560165" cy="924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dataclasses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dataclass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side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side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side</a:t>
            </a:r>
            <a:endParaRPr lang="en-US" altLang="ru-RU" sz="4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2897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Используем функцию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033270"/>
            <a:ext cx="16560165" cy="1042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Square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side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area: 6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perimeter: 10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area: 16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perimeter: 16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093533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В чем проблема?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93315"/>
            <a:ext cx="22044660" cy="464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"area: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"perimeter: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2393950"/>
            <a:ext cx="22044660" cy="4646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-&gt;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rgbClr val="E3C496"/>
                </a:solidFill>
                <a:latin typeface="Consolas" panose="020B0609020204030204" charset="0"/>
                <a:cs typeface="Consolas" panose="020B0609020204030204" charset="0"/>
              </a:rPr>
              <a:t>"area: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rgbClr val="E3C496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rgbClr val="E3C496"/>
                </a:solidFill>
                <a:latin typeface="Consolas" panose="020B0609020204030204" charset="0"/>
                <a:cs typeface="Consolas" panose="020B0609020204030204" charset="0"/>
              </a:rPr>
              <a:t>"perimeter: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rgbClr val="BCD6FD"/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solidFill>
                  <a:schemeClr val="bg2">
                    <a:lumMod val="40000"/>
                    <a:lumOff val="6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EDDBAD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rgbClr val="E3C496"/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>
                    <a:lumMod val="20000"/>
                    <a:lumOff val="8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>
                  <a:lumMod val="20000"/>
                  <a:lumOff val="8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V="1">
            <a:off x="12371705" y="6786245"/>
            <a:ext cx="0" cy="158369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Текстовое поле 6"/>
          <p:cNvSpPr txBox="1"/>
          <p:nvPr/>
        </p:nvSpPr>
        <p:spPr>
          <a:xfrm>
            <a:off x="3802380" y="8359775"/>
            <a:ext cx="172161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пользователи знают только сигнатуру</a:t>
            </a:r>
            <a:endParaRPr lang="ru-RU" altLang="en-US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3" grpId="0"/>
      <p:bldP spid="3" grpId="1"/>
      <p:bldP spid="7" grpId="0"/>
      <p:bldP spid="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093533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Последствия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033270"/>
            <a:ext cx="15100300" cy="10337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dataclasses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dataclass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property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pi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**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ru-RU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property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perimeter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pi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endParaRPr lang="en-US" altLang="ru-RU" sz="4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110043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 вот и проблема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033270"/>
            <a:ext cx="20061555" cy="1042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area: 6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perimeter: 10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AttributeError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'Circle' object has no attribute 'get_area'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5" name="Прямая со стрелкой 4"/>
          <p:cNvCxnSpPr/>
          <p:nvPr/>
        </p:nvCxnSpPr>
        <p:spPr>
          <a:xfrm flipH="1">
            <a:off x="9203055" y="6137910"/>
            <a:ext cx="6696710" cy="6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Текстовое поле 6"/>
          <p:cNvSpPr txBox="1"/>
          <p:nvPr/>
        </p:nvSpPr>
        <p:spPr>
          <a:xfrm>
            <a:off x="16187420" y="4984750"/>
            <a:ext cx="63252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функция не умеет работать с этим объектом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16115665" y="2312670"/>
            <a:ext cx="63252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но откуда пользователю это знать?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737590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Абстрактные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классы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393315"/>
            <a:ext cx="14314805" cy="9429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abstractmethod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NotImplementedError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abstractmethod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NotImplementedError</a:t>
            </a:r>
            <a:endParaRPr lang="en-US" altLang="ru-RU" sz="54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737590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Абстрактные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классы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249170"/>
            <a:ext cx="15911830" cy="98901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ObjectWithArea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ObjectWithPerimeter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1385550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Инстанцирование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3481070"/>
            <a:ext cx="18108295" cy="7262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object_with_area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Can't instantiate abstract class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object_with_perimeter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Can't instantiate abstract class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77428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абстракций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105025"/>
            <a:ext cx="18108295" cy="1033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dataclasses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dataclass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54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+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endParaRPr lang="en-US" altLang="ru-RU" sz="54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77428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абстракций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033270"/>
            <a:ext cx="15332075" cy="10330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dataclasses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dataclass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property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pi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**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ru-RU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property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perimeter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pi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endParaRPr lang="en-US" altLang="ru-RU" sz="4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03997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Нарушение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абстракции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3977640"/>
            <a:ext cx="21319490" cy="7541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 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Can't instantiate abstract class Circle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12011025" y="6569710"/>
            <a:ext cx="2304415" cy="15843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Текстовое поле 4"/>
          <p:cNvSpPr txBox="1"/>
          <p:nvPr/>
        </p:nvSpPr>
        <p:spPr>
          <a:xfrm>
            <a:off x="13883640" y="4986020"/>
            <a:ext cx="699706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48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не определили нужные методы</a:t>
            </a:r>
            <a:endParaRPr lang="ru-RU" altLang="en-US" sz="48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3609320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Исправление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ошибок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549525"/>
            <a:ext cx="15332075" cy="924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dataclasses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dataclass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pi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**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ru-RU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pi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endParaRPr lang="en-US" altLang="ru-RU" sz="4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166304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Итоговое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решение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4121785"/>
            <a:ext cx="22044660" cy="512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"area: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"perimeter: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2897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Итоговое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решение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033270"/>
            <a:ext cx="16560165" cy="1042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area: 6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perimeter: 10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area: 3.141592653589793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perimeter: 6.283185307179586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996660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Минусы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абстрактных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классов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880360"/>
            <a:ext cx="16560165" cy="9474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57250" indent="-8572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Н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еобходимость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наследования</a:t>
            </a:r>
            <a:endParaRPr lang="en-US" altLang="en-US" sz="600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57250" indent="-8572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тказ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от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динамической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типизации</a:t>
            </a:r>
            <a:endParaRPr lang="en-US" altLang="en-US" sz="600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57250" indent="-8572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Ж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естк</a:t>
            </a:r>
            <a:r>
              <a:rPr lang="ru-RU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ие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связ</a:t>
            </a:r>
            <a:r>
              <a:rPr lang="ru-RU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и между классами</a:t>
            </a:r>
            <a:endParaRPr lang="en-US" altLang="en-US" sz="600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  <a:p>
            <a:pPr marL="857250" indent="-8572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граниченная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</a:t>
            </a:r>
            <a:r>
              <a:rPr lang="en-US" altLang="en-US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поддержка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 MyPy</a:t>
            </a:r>
            <a:endParaRPr lang="en-US" altLang="ru-RU" sz="6000">
              <a:solidFill>
                <a:schemeClr val="bg2">
                  <a:lumMod val="75000"/>
                </a:schemeClr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721931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Протоколы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465070"/>
            <a:ext cx="16560165" cy="9474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Protocol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Protocol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ObjectWithPerimeter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Protocol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7219315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Протоколы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079625"/>
            <a:ext cx="16560165" cy="103555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Protocol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Protocol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ObjectWithPerimeter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Protocol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ObjectWithArea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ObjectWithPerimeter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Protocol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1335385" cy="1462405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Инстанцирование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537460"/>
            <a:ext cx="16560165" cy="9331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ObjectWithArea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ObjectWithPerimeter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Protocol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Protocols cannot be instantiated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8111470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 протокола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537460"/>
            <a:ext cx="16560165" cy="9249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dataclasses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dataclass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 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+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endParaRPr lang="en-US" altLang="ru-RU" sz="4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884650" cy="1755140"/>
          </a:xfrm>
        </p:spPr>
        <p:txBody>
          <a:bodyPr/>
          <a:lstStyle/>
          <a:p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Использование протокола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549525"/>
            <a:ext cx="15332075" cy="9240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dataclasses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dataclass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@dataclass</a:t>
            </a:r>
            <a:endParaRPr lang="en-US" altLang="ru-RU" sz="4800">
              <a:solidFill>
                <a:srgbClr val="C09D29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pi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**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ru-RU" altLang="en-US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float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 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math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pi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*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endParaRPr lang="en-US" altLang="ru-RU" sz="48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166304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Итоговое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решение</a:t>
            </a:r>
            <a:endParaRPr lang="en-US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4121785"/>
            <a:ext cx="22044660" cy="512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"area: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get_area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(f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"perimeter: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{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get_perimeter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()}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5928975" cy="1755140"/>
          </a:xfrm>
        </p:spPr>
        <p:txBody>
          <a:bodyPr/>
          <a:lstStyle/>
          <a:p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Итоговое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 </a:t>
            </a:r>
            <a:r>
              <a:rPr lang="en-US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решение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745" y="2033270"/>
            <a:ext cx="16560165" cy="10428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Rectangle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width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length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Circle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radius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print_geometric_shape_info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geometric_shape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area: 6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perimeter: 10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area: 3.141592653589793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perimeter: 6.283185307179586</a:t>
            </a:r>
            <a:endParaRPr lang="en-US" altLang="ru-RU" sz="48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4387215" y="4049395"/>
            <a:ext cx="15968345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Основные протоколы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49294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Протокол контейнера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Блок-схема: альтернативный процесс 2"/>
          <p:cNvSpPr/>
          <p:nvPr/>
        </p:nvSpPr>
        <p:spPr>
          <a:xfrm>
            <a:off x="993775" y="268160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6000" i="1">
                <a:latin typeface="Consolas" panose="020B0609020204030204" charset="0"/>
                <a:cs typeface="Consolas" panose="020B0609020204030204" charset="0"/>
              </a:rPr>
              <a:t>Container</a:t>
            </a:r>
            <a:endParaRPr lang="en-US" altLang="en-US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993775" y="440690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__contains__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Реализация контейнера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1961515"/>
            <a:ext cx="23177500" cy="10081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Hashable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MyContainer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_container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set</a:t>
            </a:r>
            <a:endParaRPr lang="en-US" altLang="ru-RU" sz="54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Hashable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_container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__contains__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obj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_container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857250" indent="-8572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Допустимые действия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75890"/>
            <a:ext cx="15408910" cy="9224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collections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abc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Container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isinstance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my_container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Container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my_container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my_container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sep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"\n"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Недопустимые действия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49170"/>
            <a:ext cx="20137755" cy="10364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my_container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MyContainer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([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2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])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my_container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'MyContainer' object is not iterable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my_container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object of type 'MyContainer' has no len()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my_container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'MyContainer' object is not subscriptable</a:t>
            </a: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Протокол итерируемого объекта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Блок-схема: альтернативный процесс 2"/>
          <p:cNvSpPr/>
          <p:nvPr/>
        </p:nvSpPr>
        <p:spPr>
          <a:xfrm>
            <a:off x="993775" y="268160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6000" i="1">
                <a:latin typeface="Consolas" panose="020B0609020204030204" charset="0"/>
                <a:cs typeface="Consolas" panose="020B0609020204030204" charset="0"/>
              </a:rPr>
              <a:t>Container</a:t>
            </a:r>
            <a:endParaRPr lang="en-US" altLang="en-US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993775" y="440690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__contains__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Блок-схема: альтернативный процесс 5"/>
          <p:cNvSpPr/>
          <p:nvPr/>
        </p:nvSpPr>
        <p:spPr>
          <a:xfrm>
            <a:off x="7402830" y="268414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6000" i="1">
                <a:latin typeface="Consolas" panose="020B0609020204030204" charset="0"/>
                <a:cs typeface="Consolas" panose="020B0609020204030204" charset="0"/>
              </a:rPr>
              <a:t>Iterable</a:t>
            </a:r>
            <a:endParaRPr lang="en-US" altLang="ru-RU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Блок-схема: альтернативный процесс 6"/>
          <p:cNvSpPr/>
          <p:nvPr/>
        </p:nvSpPr>
        <p:spPr>
          <a:xfrm>
            <a:off x="7402830" y="440944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__iter__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4421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Реализация итерируемого объекта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312670"/>
            <a:ext cx="22045930" cy="9945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75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iter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bg2">
                    <a:lumMod val="75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4421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Допустимые действия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609215"/>
            <a:ext cx="17367250" cy="9389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isinstance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3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iter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__name__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list_iterator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4421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Недопустимые действия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3165475"/>
            <a:ext cx="21897340" cy="8416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en-US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en-US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'MyIterable' object is not subscriptable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object of type 'MyIterable' has no len()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5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 in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14747240" y="9954260"/>
            <a:ext cx="39230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 sz="6000">
                <a:solidFill>
                  <a:schemeClr val="accent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почему?</a:t>
            </a:r>
            <a:endParaRPr lang="ru-RU" altLang="ru-RU" sz="6000">
              <a:solidFill>
                <a:schemeClr val="accent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7" name="Правая фигурная скобка 6"/>
          <p:cNvSpPr/>
          <p:nvPr/>
        </p:nvSpPr>
        <p:spPr>
          <a:xfrm>
            <a:off x="14027150" y="9738360"/>
            <a:ext cx="537210" cy="1584325"/>
          </a:xfrm>
          <a:prstGeom prst="rightBrace">
            <a:avLst>
              <a:gd name="adj1" fmla="val 31520"/>
              <a:gd name="adj2" fmla="val 50020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  <p:bldP spid="3" grpId="1"/>
      <p:bldP spid="7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44217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Связь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__iter__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__contains__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219960"/>
            <a:ext cx="16004540" cy="102914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"call iter"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my_iterable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([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2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3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])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isinstance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Container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call iter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244217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Неверная реализация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880110" y="2897505"/>
            <a:ext cx="20568285" cy="87610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iter() returned non-iterator of type 'list'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Протокол итератора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Блок-схема: альтернативный процесс 2"/>
          <p:cNvSpPr/>
          <p:nvPr/>
        </p:nvSpPr>
        <p:spPr>
          <a:xfrm>
            <a:off x="993775" y="268160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6000" i="1">
                <a:latin typeface="Consolas" panose="020B0609020204030204" charset="0"/>
                <a:cs typeface="Consolas" panose="020B0609020204030204" charset="0"/>
              </a:rPr>
              <a:t>Container</a:t>
            </a:r>
            <a:endParaRPr lang="en-US" altLang="en-US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993775" y="440690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__contains__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Блок-схема: альтернативный процесс 5"/>
          <p:cNvSpPr/>
          <p:nvPr/>
        </p:nvSpPr>
        <p:spPr>
          <a:xfrm>
            <a:off x="7402830" y="268414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6000" i="1">
                <a:latin typeface="Consolas" panose="020B0609020204030204" charset="0"/>
                <a:cs typeface="Consolas" panose="020B0609020204030204" charset="0"/>
              </a:rPr>
              <a:t>Iterable</a:t>
            </a:r>
            <a:endParaRPr lang="en-US" altLang="ru-RU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Блок-схема: альтернативный процесс 6"/>
          <p:cNvSpPr/>
          <p:nvPr/>
        </p:nvSpPr>
        <p:spPr>
          <a:xfrm>
            <a:off x="7402830" y="440944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__iter__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Блок-схема: альтернативный процесс 7"/>
          <p:cNvSpPr/>
          <p:nvPr/>
        </p:nvSpPr>
        <p:spPr>
          <a:xfrm>
            <a:off x="7402195" y="6932930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6000" i="1">
                <a:latin typeface="Consolas" panose="020B0609020204030204" charset="0"/>
                <a:cs typeface="Consolas" panose="020B0609020204030204" charset="0"/>
              </a:rPr>
              <a:t>Iterator</a:t>
            </a:r>
            <a:endParaRPr lang="en-US" altLang="ru-RU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7402195" y="8658225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__iter__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0" name="Прямая со стрелкой 9"/>
          <p:cNvCxnSpPr>
            <a:stCxn id="8" idx="0"/>
            <a:endCxn id="7" idx="2"/>
          </p:cNvCxnSpPr>
          <p:nvPr/>
        </p:nvCxnSpPr>
        <p:spPr>
          <a:xfrm flipV="1">
            <a:off x="10167620" y="6134735"/>
            <a:ext cx="635" cy="79819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Блок-схема: альтернативный процесс 10"/>
          <p:cNvSpPr/>
          <p:nvPr/>
        </p:nvSpPr>
        <p:spPr>
          <a:xfrm>
            <a:off x="7401560" y="10386695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__next__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Попытка реализации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#1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177415"/>
            <a:ext cx="16117570" cy="104432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-1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__next__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+= </a:t>
            </a:r>
            <a:r>
              <a:rPr lang="en-US" altLang="ru-RU" sz="4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&lt;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StopIteration</a:t>
            </a:r>
            <a:endParaRPr lang="en-US" altLang="ru-RU" sz="40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Проблемы реализации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465070"/>
            <a:ext cx="14828520" cy="9721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3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ничего не выведено</a:t>
            </a:r>
            <a:endParaRPr lang="ru-RU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Попытка реализации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#</a:t>
            </a:r>
            <a:r>
              <a:rPr lang="ru-RU" alt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2</a:t>
            </a:r>
            <a:endParaRPr lang="ru-RU" alt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177415"/>
            <a:ext cx="16316960" cy="10097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-1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__next__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+= </a:t>
            </a:r>
            <a:r>
              <a:rPr lang="en-US" altLang="ru-RU" sz="4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&lt;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StopIteration</a:t>
            </a:r>
            <a:endParaRPr lang="en-US" altLang="ru-RU" sz="40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Проблемы решены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?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424430"/>
            <a:ext cx="13857605" cy="9907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3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ru-RU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endParaRPr lang="ru-RU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endParaRPr lang="ru-RU" altLang="en-US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Да будут новые проблемы!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3689985"/>
            <a:ext cx="15496540" cy="6795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elem_inner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elem_inner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</a:t>
            </a:r>
            <a:endParaRPr lang="ru-RU" altLang="en-US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Попытка реализации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#3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177415"/>
            <a:ext cx="16117570" cy="10272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       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4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-1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__next__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+= </a:t>
            </a:r>
            <a:r>
              <a:rPr lang="en-US" altLang="ru-RU" sz="4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&lt;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4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StopIteration</a:t>
            </a:r>
            <a:endParaRPr lang="en-US" altLang="ru-RU" sz="40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Ну теперь-то решены?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609215"/>
            <a:ext cx="15673705" cy="9314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end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 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 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elem_inner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elem_inner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end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=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 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 2 1 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Итератор и объектная модель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3354070"/>
            <a:ext cx="19905980" cy="8176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my_iterable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MyIterable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])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next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my_list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next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my_list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'list' object is not an iterator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93837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Финальная реализация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177415"/>
            <a:ext cx="16333470" cy="10866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MyIterator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-1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MyIterator</a:t>
            </a:r>
            <a:r>
              <a:rPr lang="en-US" altLang="ru-RU" sz="4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__next__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+= </a:t>
            </a:r>
            <a:r>
              <a:rPr lang="en-US" altLang="ru-RU" sz="4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&lt;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_iter_ptr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4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StopIteration</a:t>
            </a:r>
            <a:endParaRPr lang="en-US" altLang="ru-RU" sz="4000">
              <a:solidFill>
                <a:schemeClr val="accent1">
                  <a:lumMod val="60000"/>
                  <a:lumOff val="4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93837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Финальная реализация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897505"/>
            <a:ext cx="19726910" cy="73894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MyIterator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938375" cy="1755140"/>
          </a:xfrm>
        </p:spPr>
        <p:txBody>
          <a:bodyPr/>
          <a:lstStyle/>
          <a:p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Финальная реализация</a:t>
            </a:r>
            <a:endParaRPr 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3073400"/>
            <a:ext cx="20890230" cy="78435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end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 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 2 1 2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next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'MyIterable' object is not an iterator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014055" cy="1755140"/>
          </a:xfrm>
        </p:spPr>
        <p:txBody>
          <a:bodyPr/>
          <a:lstStyle/>
          <a:p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StopIteration </a:t>
            </a:r>
            <a:r>
              <a:rPr 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секрет цикла </a:t>
            </a:r>
            <a:r>
              <a:rPr lang="en-US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for</a:t>
            </a:r>
            <a:endParaRPr lang="en-US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465070"/>
            <a:ext cx="13949045" cy="820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my_iterator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iter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while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True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try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next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my_iterator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except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StopIteration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break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2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880110" y="10673715"/>
            <a:ext cx="101053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for elem in my_iterable: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    print(elem)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120519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Протокол объекта с размером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Блок-схема: альтернативный процесс 2"/>
          <p:cNvSpPr/>
          <p:nvPr/>
        </p:nvSpPr>
        <p:spPr>
          <a:xfrm>
            <a:off x="993775" y="268160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6000" i="1">
                <a:latin typeface="Consolas" panose="020B0609020204030204" charset="0"/>
                <a:cs typeface="Consolas" panose="020B0609020204030204" charset="0"/>
              </a:rPr>
              <a:t>Container</a:t>
            </a:r>
            <a:endParaRPr lang="en-US" altLang="en-US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993775" y="440690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__contains__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Блок-схема: альтернативный процесс 5"/>
          <p:cNvSpPr/>
          <p:nvPr/>
        </p:nvSpPr>
        <p:spPr>
          <a:xfrm>
            <a:off x="7402830" y="268414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6000" i="1">
                <a:latin typeface="Consolas" panose="020B0609020204030204" charset="0"/>
                <a:cs typeface="Consolas" panose="020B0609020204030204" charset="0"/>
              </a:rPr>
              <a:t>Iterable</a:t>
            </a:r>
            <a:endParaRPr lang="en-US" altLang="ru-RU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Блок-схема: альтернативный процесс 6"/>
          <p:cNvSpPr/>
          <p:nvPr/>
        </p:nvSpPr>
        <p:spPr>
          <a:xfrm>
            <a:off x="7402830" y="440944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__iter__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Блок-схема: альтернативный процесс 7"/>
          <p:cNvSpPr/>
          <p:nvPr/>
        </p:nvSpPr>
        <p:spPr>
          <a:xfrm>
            <a:off x="7402195" y="6932930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6000" i="1">
                <a:latin typeface="Consolas" panose="020B0609020204030204" charset="0"/>
                <a:cs typeface="Consolas" panose="020B0609020204030204" charset="0"/>
              </a:rPr>
              <a:t>Iterator</a:t>
            </a:r>
            <a:endParaRPr lang="en-US" altLang="ru-RU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9" name="Блок-схема: альтернативный процесс 8"/>
          <p:cNvSpPr/>
          <p:nvPr/>
        </p:nvSpPr>
        <p:spPr>
          <a:xfrm>
            <a:off x="7402195" y="8658225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__iter__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0" name="Прямая со стрелкой 9"/>
          <p:cNvCxnSpPr>
            <a:stCxn id="8" idx="0"/>
            <a:endCxn id="7" idx="2"/>
          </p:cNvCxnSpPr>
          <p:nvPr/>
        </p:nvCxnSpPr>
        <p:spPr>
          <a:xfrm flipV="1">
            <a:off x="10167620" y="6134735"/>
            <a:ext cx="635" cy="79819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Блок-схема: альтернативный процесс 10"/>
          <p:cNvSpPr/>
          <p:nvPr/>
        </p:nvSpPr>
        <p:spPr>
          <a:xfrm>
            <a:off x="7401560" y="10386695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__next__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Блок-схема: альтернативный процесс 11"/>
          <p:cNvSpPr/>
          <p:nvPr/>
        </p:nvSpPr>
        <p:spPr>
          <a:xfrm>
            <a:off x="13811885" y="268414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6000" i="1">
                <a:latin typeface="Consolas" panose="020B0609020204030204" charset="0"/>
                <a:cs typeface="Consolas" panose="020B0609020204030204" charset="0"/>
              </a:rPr>
              <a:t>Sized</a:t>
            </a:r>
            <a:endParaRPr lang="en-US" altLang="ru-RU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13811885" y="440944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__len__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56955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Реализация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объекта с размером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033270"/>
            <a:ext cx="19646900" cy="10336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MySized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__len__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MySized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10</a:t>
            </a:r>
            <a:endParaRPr lang="en-US" altLang="ru-RU" sz="54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728406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Недопустимые действия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209165"/>
            <a:ext cx="20556220" cy="10226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MySized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'MySized' object is not iterable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argument of type 'MySized' is not iterable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'MySized' object is not subscriptable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56955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Ограничения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340610"/>
            <a:ext cx="17289780" cy="9854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MySized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__len__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8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8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8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-1</a:t>
            </a: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48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48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MySized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48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8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48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48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ru-RU" altLang="en-US" sz="48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48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48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ValueError</a:t>
            </a:r>
            <a:r>
              <a:rPr lang="en-US" altLang="ru-RU" sz="48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__len__() should return &gt;= 0</a:t>
            </a:r>
            <a:endParaRPr lang="en-US" altLang="ru-RU" sz="48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56955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len__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__bool__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609215"/>
            <a:ext cx="19558000" cy="8083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MySized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__len__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"len"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len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  <a:sym typeface="+mn-ea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2056955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len__ </a:t>
            </a:r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и </a:t>
            </a:r>
            <a:r>
              <a:rPr lang="en-US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__bool__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12" name="Текстовое поле 11"/>
          <p:cNvSpPr txBox="1"/>
          <p:nvPr/>
        </p:nvSpPr>
        <p:spPr>
          <a:xfrm>
            <a:off x="880110" y="2681605"/>
            <a:ext cx="14561185" cy="8650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MySized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len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True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MySized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([])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my_sized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len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</a:pP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 txBox="1">
            <a:spLocks noGrp="1"/>
          </p:cNvSpPr>
          <p:nvPr>
            <p:ph type="title"/>
          </p:nvPr>
        </p:nvSpPr>
        <p:spPr>
          <a:xfrm>
            <a:off x="4387215" y="4049395"/>
            <a:ext cx="15968345" cy="2795905"/>
          </a:xfrm>
          <a:prstGeom prst="rect">
            <a:avLst/>
          </a:prstGeom>
        </p:spPr>
        <p:txBody>
          <a:bodyPr lIns="243800" tIns="243800" rIns="243800" bIns="243800" anchor="ctr" anchorCtr="0">
            <a:noAutofit/>
          </a:bodyPr>
          <a:lstStyle/>
          <a:p>
            <a:pPr algn="ctr"/>
            <a:r>
              <a:rPr lang="ru-RU" altLang="ru-RU" sz="8535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  <a:sym typeface="+mn-ea"/>
              </a:rPr>
              <a:t>Протоколы коллекций</a:t>
            </a:r>
            <a:endParaRPr lang="ru-RU" alt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492943" y="12258675"/>
            <a:ext cx="294135" cy="29718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34084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Протокол коллекции</a:t>
            </a:r>
            <a:endParaRPr lang="en-US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3" name="Блок-схема: альтернативный процесс 2"/>
          <p:cNvSpPr/>
          <p:nvPr/>
        </p:nvSpPr>
        <p:spPr>
          <a:xfrm>
            <a:off x="993775" y="268160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6000" i="1">
                <a:latin typeface="Consolas" panose="020B0609020204030204" charset="0"/>
                <a:cs typeface="Consolas" panose="020B0609020204030204" charset="0"/>
              </a:rPr>
              <a:t>Container</a:t>
            </a:r>
            <a:endParaRPr lang="en-US" altLang="en-US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7402830" y="721487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__contains__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6" name="Блок-схема: альтернативный процесс 5"/>
          <p:cNvSpPr/>
          <p:nvPr/>
        </p:nvSpPr>
        <p:spPr>
          <a:xfrm>
            <a:off x="7402830" y="268414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6000" i="1">
                <a:latin typeface="Consolas" panose="020B0609020204030204" charset="0"/>
                <a:cs typeface="Consolas" panose="020B0609020204030204" charset="0"/>
              </a:rPr>
              <a:t>Iterable</a:t>
            </a:r>
            <a:endParaRPr lang="en-US" altLang="ru-RU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7" name="Блок-схема: альтернативный процесс 6"/>
          <p:cNvSpPr/>
          <p:nvPr/>
        </p:nvSpPr>
        <p:spPr>
          <a:xfrm>
            <a:off x="7404100" y="8943340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__iter__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Блок-схема: альтернативный процесс 7"/>
          <p:cNvSpPr/>
          <p:nvPr/>
        </p:nvSpPr>
        <p:spPr>
          <a:xfrm>
            <a:off x="7403465" y="548957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6000" i="1">
                <a:latin typeface="Consolas" panose="020B0609020204030204" charset="0"/>
                <a:cs typeface="Consolas" panose="020B0609020204030204" charset="0"/>
              </a:rPr>
              <a:t>Collections</a:t>
            </a:r>
            <a:endParaRPr lang="en-US" altLang="en-US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2" name="Блок-схема: альтернативный процесс 11"/>
          <p:cNvSpPr/>
          <p:nvPr/>
        </p:nvSpPr>
        <p:spPr>
          <a:xfrm>
            <a:off x="13811885" y="2684145"/>
            <a:ext cx="5530215" cy="1725295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6000" i="1">
                <a:latin typeface="Consolas" panose="020B0609020204030204" charset="0"/>
                <a:cs typeface="Consolas" panose="020B0609020204030204" charset="0"/>
              </a:rPr>
              <a:t>Sized</a:t>
            </a:r>
            <a:endParaRPr lang="en-US" altLang="ru-RU" sz="6000" i="1"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13" name="Блок-схема: альтернативный процесс 12"/>
          <p:cNvSpPr/>
          <p:nvPr/>
        </p:nvSpPr>
        <p:spPr>
          <a:xfrm>
            <a:off x="7404100" y="10668635"/>
            <a:ext cx="5530850" cy="1725295"/>
          </a:xfrm>
          <a:prstGeom prst="flowChartAlternateProcess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__len__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</p:txBody>
      </p:sp>
      <p:cxnSp>
        <p:nvCxnSpPr>
          <p:cNvPr id="14" name="Прямая со стрелкой 13"/>
          <p:cNvCxnSpPr>
            <a:stCxn id="8" idx="0"/>
            <a:endCxn id="6" idx="2"/>
          </p:cNvCxnSpPr>
          <p:nvPr/>
        </p:nvCxnSpPr>
        <p:spPr>
          <a:xfrm flipH="1" flipV="1">
            <a:off x="10168255" y="4409440"/>
            <a:ext cx="635" cy="10801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>
            <a:stCxn id="8" idx="0"/>
            <a:endCxn id="3" idx="2"/>
          </p:cNvCxnSpPr>
          <p:nvPr/>
        </p:nvCxnSpPr>
        <p:spPr>
          <a:xfrm flipH="1" flipV="1">
            <a:off x="3759200" y="4406900"/>
            <a:ext cx="6409690" cy="10826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>
            <a:endCxn id="12" idx="2"/>
          </p:cNvCxnSpPr>
          <p:nvPr/>
        </p:nvCxnSpPr>
        <p:spPr>
          <a:xfrm flipV="1">
            <a:off x="10211435" y="4409440"/>
            <a:ext cx="6365875" cy="108077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88655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Реализация коллекции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226310"/>
            <a:ext cx="16529050" cy="1054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list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__contains__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-&gt;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bool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__iter__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iter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__len__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4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4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4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4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4000"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4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4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4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88655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Допустимые действия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668270"/>
            <a:ext cx="16232505" cy="8973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False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en-US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32979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Чтение элементов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392045"/>
            <a:ext cx="20492720" cy="9701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__getitem__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isinstance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&lt;=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&lt;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232979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Чтение элементов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809240"/>
            <a:ext cx="16301720" cy="78530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1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30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None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"32"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97863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Проблемы реализации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459355"/>
            <a:ext cx="19823430" cy="9596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__init__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__contains__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bool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__len__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ru-RU" altLang="en-US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__getitem__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4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"getitem"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ru-RU" altLang="en-US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...</a:t>
            </a:r>
            <a:endParaRPr lang="ru-RU" altLang="en-US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endParaRPr lang="ru-RU" altLang="en-US" sz="54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697863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Проблемы реализации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825115"/>
            <a:ext cx="19746595" cy="9371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</a:t>
            </a:r>
            <a:r>
              <a:rPr lang="ru-RU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бесконечный цикл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getitem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getitem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getitem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None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24431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Правильное чтение элементов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105025"/>
            <a:ext cx="16924020" cy="10132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__getitem__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isinstance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&lt;=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&lt;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return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IndexError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9244310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Правильное чтение элементов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3161030"/>
            <a:ext cx="16285210" cy="7362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for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 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60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elem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1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7491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Перезапись элементов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2105025"/>
            <a:ext cx="21638260" cy="9967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from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typing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import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Iterator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Iterable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class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...</a:t>
            </a:r>
            <a:endParaRPr lang="ru-RU" altLang="en-US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ru-RU" altLang="en-US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def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__setitem__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Any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-&gt;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None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not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isinstance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,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int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TypeError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endParaRPr lang="en-US" altLang="ru-RU" sz="5400">
              <a:solidFill>
                <a:schemeClr val="bg2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if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len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&lt;=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ru-RU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en-US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or</a:t>
            </a:r>
            <a:r>
              <a:rPr lang="en-US" altLang="en-US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key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&lt;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5400">
                <a:solidFill>
                  <a:schemeClr val="accent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: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        </a:t>
            </a:r>
            <a:r>
              <a:rPr lang="en-US" altLang="ru-RU" sz="5400">
                <a:solidFill>
                  <a:srgbClr val="7030A0"/>
                </a:solidFill>
                <a:latin typeface="Consolas" panose="020B0609020204030204" charset="0"/>
                <a:cs typeface="Consolas" panose="020B0609020204030204" charset="0"/>
              </a:rPr>
              <a:t>raise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IndexError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</a:t>
            </a:r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54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      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self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.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_iterable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key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 </a:t>
            </a:r>
            <a:r>
              <a:rPr lang="en-US" altLang="ru-RU" sz="5400">
                <a:solidFill>
                  <a:schemeClr val="bg2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=</a:t>
            </a:r>
            <a:r>
              <a:rPr lang="en-US" altLang="ru-RU" sz="54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 </a:t>
            </a:r>
            <a:r>
              <a:rPr lang="en-US" altLang="ru-RU" sz="54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value</a:t>
            </a:r>
            <a:endParaRPr lang="en-US" altLang="ru-RU" sz="5400">
              <a:solidFill>
                <a:schemeClr val="accent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80110" y="557530"/>
            <a:ext cx="14749145" cy="1755140"/>
          </a:xfrm>
        </p:spPr>
        <p:txBody>
          <a:bodyPr/>
          <a:lstStyle/>
          <a:p>
            <a:r>
              <a:rPr lang="ru-RU" altLang="ru-RU">
                <a:solidFill>
                  <a:schemeClr val="accent1"/>
                </a:solidFill>
                <a:cs typeface="Arial Black" panose="020B0A04020102020204" pitchFamily="34" charset="0"/>
                <a:sym typeface="+mn-ea"/>
              </a:rPr>
              <a:t>Перезапись элементов</a:t>
            </a:r>
            <a:endParaRPr lang="ru-RU" altLang="ru-RU">
              <a:solidFill>
                <a:schemeClr val="accent1"/>
              </a:solidFill>
              <a:cs typeface="Arial Black" panose="020B0A04020102020204" pitchFamily="34" charset="0"/>
              <a:sym typeface="+mn-ea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ru-RU" smtClean="0"/>
            </a:fld>
            <a:endParaRPr lang="ru-RU" dirty="0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880110" y="3617595"/>
            <a:ext cx="16115665" cy="70288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range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2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))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0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</a:t>
            </a:r>
            <a:r>
              <a:rPr lang="en-US" altLang="ru-RU" sz="6000">
                <a:solidFill>
                  <a:schemeClr val="tx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 = 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42</a:t>
            </a:r>
            <a:endParaRPr lang="en-US" altLang="ru-RU" sz="6000">
              <a:solidFill>
                <a:schemeClr val="tx1">
                  <a:lumMod val="50000"/>
                </a:schemeClr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C09D29"/>
                </a:solidFill>
                <a:latin typeface="Consolas" panose="020B0609020204030204" charset="0"/>
                <a:cs typeface="Consolas" panose="020B0609020204030204" charset="0"/>
              </a:rPr>
              <a:t>print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(</a:t>
            </a:r>
            <a:r>
              <a:rPr lang="en-US" altLang="ru-RU" sz="6000">
                <a:solidFill>
                  <a:schemeClr val="accent1">
                    <a:lumMod val="50000"/>
                  </a:schemeClr>
                </a:solidFill>
                <a:latin typeface="Consolas" panose="020B0609020204030204" charset="0"/>
                <a:cs typeface="Consolas" panose="020B0609020204030204" charset="0"/>
              </a:rPr>
              <a:t>my_collection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[</a:t>
            </a:r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0</a:t>
            </a:r>
            <a:r>
              <a:rPr lang="en-US" altLang="ru-RU" sz="6000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])</a:t>
            </a:r>
            <a:endParaRPr lang="en-US" altLang="ru-RU" sz="6000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r>
              <a:rPr lang="en-US" altLang="ru-RU" sz="6000">
                <a:solidFill>
                  <a:srgbClr val="7CB683"/>
                </a:solidFill>
                <a:latin typeface="Consolas" panose="020B0609020204030204" charset="0"/>
                <a:cs typeface="Consolas" panose="020B0609020204030204" charset="0"/>
              </a:rPr>
              <a:t># 42</a:t>
            </a:r>
            <a:endParaRPr lang="en-US" altLang="ru-RU" sz="6000">
              <a:solidFill>
                <a:srgbClr val="7CB683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/>
            <a:fld id="{00000000-1234-1234-1234-123412341234}" type="slidenum">
              <a:rPr lang="en-US" sz="28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fld>
            <a:endParaRPr lang="en-US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7" name="Picture 3" descr="C:\Users\Давыдовы\dwhelper\_ФРИЛАНС\МФТИ\Преза ОИ\logo_whit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92603" y="1025352"/>
            <a:ext cx="2016029" cy="73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Группа 2"/>
          <p:cNvGrpSpPr/>
          <p:nvPr/>
        </p:nvGrpSpPr>
        <p:grpSpPr>
          <a:xfrm>
            <a:off x="1137920" y="12258675"/>
            <a:ext cx="1107378" cy="297180"/>
            <a:chOff x="658813" y="5548708"/>
            <a:chExt cx="712787" cy="189326"/>
          </a:xfrm>
        </p:grpSpPr>
        <p:sp>
          <p:nvSpPr>
            <p:cNvPr id="4" name="Овал 3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  <p:sp>
          <p:nvSpPr>
            <p:cNvPr id="5" name="Овал 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ru-RU"/>
            </a:p>
          </p:txBody>
        </p:sp>
      </p:grpSp>
      <p:sp>
        <p:nvSpPr>
          <p:cNvPr id="6" name="Овал 5"/>
          <p:cNvSpPr/>
          <p:nvPr/>
        </p:nvSpPr>
        <p:spPr>
          <a:xfrm>
            <a:off x="2722053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3492943" y="12258675"/>
            <a:ext cx="294135" cy="29718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/>
          </a:p>
        </p:txBody>
      </p:sp>
      <p:sp>
        <p:nvSpPr>
          <p:cNvPr id="11" name="Shape 113"/>
          <p:cNvSpPr txBox="1">
            <a:spLocks noGrp="1"/>
          </p:cNvSpPr>
          <p:nvPr/>
        </p:nvSpPr>
        <p:spPr>
          <a:xfrm>
            <a:off x="3513455" y="4050030"/>
            <a:ext cx="18225770" cy="2795905"/>
          </a:xfrm>
          <a:prstGeom prst="rect">
            <a:avLst/>
          </a:prstGeom>
          <a:noFill/>
          <a:ln>
            <a:noFill/>
          </a:ln>
        </p:spPr>
        <p:txBody>
          <a:bodyPr lIns="243800" tIns="243800" rIns="243800" bIns="243800" anchor="ctr" anchorCtr="0">
            <a:no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8500" b="1" i="0" u="none" strike="noStrike" cap="none" baseline="0" dirty="0">
                <a:solidFill>
                  <a:srgbClr val="0072BC"/>
                </a:solidFill>
                <a:latin typeface="+mj-lt"/>
                <a:ea typeface="Arial" panose="020B0604020202020204"/>
                <a:cs typeface="Segoe UI" panose="020B0502040204020203" pitchFamily="34" charset="0"/>
                <a:sym typeface="Arial" panose="020B0604020202020204"/>
              </a:defRPr>
            </a:lvl1pPr>
            <a:lvl2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2pPr>
            <a:lvl3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3pPr>
            <a:lvl4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4pPr>
            <a:lvl5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5pPr>
            <a:lvl6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6pPr>
            <a:lvl7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7pPr>
            <a:lvl8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8pPr>
            <a:lvl9pPr algn="ctr">
              <a:spcBef>
                <a:spcPts val="0"/>
              </a:spcBef>
              <a:buClr>
                <a:schemeClr val="dk1"/>
              </a:buClr>
              <a:buSzPct val="100000"/>
              <a:buNone/>
              <a:defRPr sz="9600">
                <a:solidFill>
                  <a:schemeClr val="dk1"/>
                </a:solidFill>
              </a:defRPr>
            </a:lvl9pPr>
          </a:lstStyle>
          <a:p>
            <a:pPr algn="l"/>
            <a:r>
              <a:rPr lang="ru-RU" sz="8535" dirty="0" smtClean="0">
                <a:solidFill>
                  <a:schemeClr val="bg1"/>
                </a:solidFill>
                <a:latin typeface="Arial Black" panose="020B0A04020102020204" pitchFamily="34" charset="0"/>
                <a:cs typeface="Arial Black" panose="020B0A04020102020204" pitchFamily="34" charset="0"/>
              </a:rPr>
              <a:t>Семинар</a:t>
            </a:r>
            <a:endParaRPr lang="ru-RU" sz="8535" dirty="0" smtClean="0">
              <a:solidFill>
                <a:schemeClr val="bg1"/>
              </a:solidFill>
              <a:latin typeface="Arial Black" panose="020B0A04020102020204" pitchFamily="34" charset="0"/>
              <a:cs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simple-light-2">
  <a:themeElements>
    <a:clrScheme name="МФТИ">
      <a:dk1>
        <a:srgbClr val="525252"/>
      </a:dk1>
      <a:lt1>
        <a:srgbClr val="FFFFFF"/>
      </a:lt1>
      <a:dk2>
        <a:srgbClr val="525252"/>
      </a:dk2>
      <a:lt2>
        <a:srgbClr val="FFFFFF"/>
      </a:lt2>
      <a:accent1>
        <a:srgbClr val="0072BC"/>
      </a:accent1>
      <a:accent2>
        <a:srgbClr val="525252"/>
      </a:accent2>
      <a:accent3>
        <a:srgbClr val="7C7C7C"/>
      </a:accent3>
      <a:accent4>
        <a:srgbClr val="FFAB40"/>
      </a:accent4>
      <a:accent5>
        <a:srgbClr val="0072BC"/>
      </a:accent5>
      <a:accent6>
        <a:srgbClr val="525252"/>
      </a:accent6>
      <a:hlink>
        <a:srgbClr val="FFAB40"/>
      </a:hlink>
      <a:folHlink>
        <a:srgbClr val="92C5EB"/>
      </a:folHlink>
    </a:clrScheme>
    <a:fontScheme name="МФТИ">
      <a:majorFont>
        <a:latin typeface="Arial Blac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15198</Words>
  <Application>WPS Presentation</Application>
  <PresentationFormat>Произвольный</PresentationFormat>
  <Paragraphs>1051</Paragraphs>
  <Slides>69</Slides>
  <Notes>10</Notes>
  <HiddenSlides>0</HiddenSlides>
  <MMClips>2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1" baseType="lpstr">
      <vt:lpstr>Arial</vt:lpstr>
      <vt:lpstr>SimSun</vt:lpstr>
      <vt:lpstr>Wingdings</vt:lpstr>
      <vt:lpstr>Arial</vt:lpstr>
      <vt:lpstr>Segoe UI</vt:lpstr>
      <vt:lpstr>Arial Black</vt:lpstr>
      <vt:lpstr>Tahoma</vt:lpstr>
      <vt:lpstr>Franklin Gothic Book</vt:lpstr>
      <vt:lpstr>Consolas</vt:lpstr>
      <vt:lpstr>Microsoft YaHei</vt:lpstr>
      <vt:lpstr>Arial Unicode MS</vt:lpstr>
      <vt:lpstr>simple-light-2</vt:lpstr>
      <vt:lpstr>Протоколы в Python</vt:lpstr>
      <vt:lpstr>Абстракции и протоколы</vt:lpstr>
      <vt:lpstr>Проблеманя функция</vt:lpstr>
      <vt:lpstr>Геометрические фигуры</vt:lpstr>
      <vt:lpstr>Геометрические фигуры</vt:lpstr>
      <vt:lpstr>Используем функцию</vt:lpstr>
      <vt:lpstr>В чем проблема?</vt:lpstr>
      <vt:lpstr>Последствия</vt:lpstr>
      <vt:lpstr>А вот и проблема</vt:lpstr>
      <vt:lpstr>Абстрактные классы</vt:lpstr>
      <vt:lpstr>Абстрактные классы</vt:lpstr>
      <vt:lpstr>Инстанцирование</vt:lpstr>
      <vt:lpstr>Использование абстракций</vt:lpstr>
      <vt:lpstr>Использование абстракций</vt:lpstr>
      <vt:lpstr>Нарушение абстракции</vt:lpstr>
      <vt:lpstr>Исправление ошибок</vt:lpstr>
      <vt:lpstr>Итоговое решение</vt:lpstr>
      <vt:lpstr>Итоговое решение</vt:lpstr>
      <vt:lpstr>Минусы абстрактных классов</vt:lpstr>
      <vt:lpstr>Протоколы</vt:lpstr>
      <vt:lpstr>Протоколы</vt:lpstr>
      <vt:lpstr>Инстанцирование</vt:lpstr>
      <vt:lpstr>Использование протокола</vt:lpstr>
      <vt:lpstr>Использование протокола</vt:lpstr>
      <vt:lpstr>Итоговое решение</vt:lpstr>
      <vt:lpstr>Итоговое решение</vt:lpstr>
      <vt:lpstr>Основные протоколы</vt:lpstr>
      <vt:lpstr>Протокол контейнера</vt:lpstr>
      <vt:lpstr>Реализация контейнера</vt:lpstr>
      <vt:lpstr>Допустимые действия</vt:lpstr>
      <vt:lpstr>Недопустимые действия</vt:lpstr>
      <vt:lpstr>Протокол итерируемого объекта</vt:lpstr>
      <vt:lpstr>Реализация итерируемого объекта</vt:lpstr>
      <vt:lpstr>Допустимые действия</vt:lpstr>
      <vt:lpstr>Недопустимые действия</vt:lpstr>
      <vt:lpstr>Связь __iter__ и __contains__</vt:lpstr>
      <vt:lpstr>Неверная реализация</vt:lpstr>
      <vt:lpstr>Протокол итератора</vt:lpstr>
      <vt:lpstr>Попытка реализации #1</vt:lpstr>
      <vt:lpstr>Проблемы реализации</vt:lpstr>
      <vt:lpstr>Попытка реализации #2</vt:lpstr>
      <vt:lpstr>Проблемы решены?</vt:lpstr>
      <vt:lpstr>Да будут новые проблемы!</vt:lpstr>
      <vt:lpstr>Попытка реализации #3</vt:lpstr>
      <vt:lpstr>Ну теперь-то решены?</vt:lpstr>
      <vt:lpstr>Итератор и объектная модель</vt:lpstr>
      <vt:lpstr>Финальная реализация</vt:lpstr>
      <vt:lpstr>Финальная реализация</vt:lpstr>
      <vt:lpstr>Финальная реализация</vt:lpstr>
      <vt:lpstr>StopIteration и секрет цикла for</vt:lpstr>
      <vt:lpstr>Протокол объекта с размером</vt:lpstr>
      <vt:lpstr>Реализация объекта с размером</vt:lpstr>
      <vt:lpstr>Недопустимые действия</vt:lpstr>
      <vt:lpstr>Ограничения</vt:lpstr>
      <vt:lpstr>__len__ и __bool__</vt:lpstr>
      <vt:lpstr>__len__ и __bool__</vt:lpstr>
      <vt:lpstr>Протоколы коллекций</vt:lpstr>
      <vt:lpstr>Протокол коллекции</vt:lpstr>
      <vt:lpstr>Реализация коллекции</vt:lpstr>
      <vt:lpstr>Допустимые действия</vt:lpstr>
      <vt:lpstr>Чтение элементов</vt:lpstr>
      <vt:lpstr>Чтение элементов</vt:lpstr>
      <vt:lpstr>Проблемы реализации</vt:lpstr>
      <vt:lpstr>Проблемы реализации</vt:lpstr>
      <vt:lpstr>Правильное чтение элементов</vt:lpstr>
      <vt:lpstr>Правильное чтение элементов</vt:lpstr>
      <vt:lpstr>Перезапись элементов</vt:lpstr>
      <vt:lpstr>Перезапись элементов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MIPT / Phystech</dc:title>
  <dc:creator>Marina</dc:creator>
  <cp:lastModifiedBy>Michail Evgrafov</cp:lastModifiedBy>
  <cp:revision>1037</cp:revision>
  <dcterms:created xsi:type="dcterms:W3CDTF">2023-09-07T15:23:00Z</dcterms:created>
  <dcterms:modified xsi:type="dcterms:W3CDTF">2025-12-04T09:14:41Z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939A7A65A70D42D3AFBDFCFAB1B7D962_12</vt:lpwstr>
  </property>
  <property fmtid="{D5CDD505-2E9C-101B-9397-08002B2CF9AE}" pid="3" name="KSOProductBuildVer">
    <vt:lpwstr>1049-12.2.0.23155</vt:lpwstr>
  </property>
</Properties>
</file>