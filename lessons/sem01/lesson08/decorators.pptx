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5"/>
  </p:notesMasterIdLst>
  <p:sldIdLst>
    <p:sldId id="306" r:id="rId3"/>
    <p:sldId id="486" r:id="rId4"/>
    <p:sldId id="553" r:id="rId6"/>
    <p:sldId id="554" r:id="rId7"/>
    <p:sldId id="555" r:id="rId8"/>
    <p:sldId id="556" r:id="rId9"/>
    <p:sldId id="557" r:id="rId10"/>
    <p:sldId id="559" r:id="rId11"/>
    <p:sldId id="560" r:id="rId12"/>
    <p:sldId id="561" r:id="rId13"/>
    <p:sldId id="562" r:id="rId14"/>
    <p:sldId id="563" r:id="rId15"/>
    <p:sldId id="564" r:id="rId16"/>
    <p:sldId id="565" r:id="rId17"/>
    <p:sldId id="566" r:id="rId18"/>
    <p:sldId id="567" r:id="rId19"/>
    <p:sldId id="568" r:id="rId20"/>
    <p:sldId id="535" r:id="rId21"/>
    <p:sldId id="569" r:id="rId22"/>
    <p:sldId id="570" r:id="rId23"/>
    <p:sldId id="538" r:id="rId24"/>
    <p:sldId id="571" r:id="rId25"/>
    <p:sldId id="540" r:id="rId26"/>
    <p:sldId id="542" r:id="rId27"/>
    <p:sldId id="543" r:id="rId28"/>
    <p:sldId id="544" r:id="rId29"/>
    <p:sldId id="545" r:id="rId30"/>
    <p:sldId id="546" r:id="rId31"/>
    <p:sldId id="547" r:id="rId32"/>
    <p:sldId id="548" r:id="rId33"/>
    <p:sldId id="552" r:id="rId34"/>
    <p:sldId id="549" r:id="rId35"/>
    <p:sldId id="550" r:id="rId36"/>
    <p:sldId id="551" r:id="rId37"/>
    <p:sldId id="331" r:id="rId38"/>
  </p:sldIdLst>
  <p:sldSz cx="24742775" cy="13716000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CCCB284-FAD9-4ACF-BBE5-987686199942}">
          <p14:sldIdLst>
            <p14:sldId id="306"/>
            <p14:sldId id="486"/>
            <p14:sldId id="553"/>
            <p14:sldId id="554"/>
            <p14:sldId id="555"/>
            <p14:sldId id="556"/>
            <p14:sldId id="557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35"/>
            <p14:sldId id="569"/>
            <p14:sldId id="570"/>
            <p14:sldId id="538"/>
            <p14:sldId id="571"/>
            <p14:sldId id="540"/>
            <p14:sldId id="542"/>
            <p14:sldId id="543"/>
            <p14:sldId id="544"/>
            <p14:sldId id="545"/>
            <p14:sldId id="546"/>
            <p14:sldId id="547"/>
            <p14:sldId id="548"/>
            <p14:sldId id="552"/>
            <p14:sldId id="549"/>
            <p14:sldId id="550"/>
            <p14:sldId id="551"/>
            <p14:sldId id="331"/>
          </p14:sldIdLst>
        </p14:section>
        <p14:section name="Раздел без заголовка" id="{F03BB59A-273A-4306-BA96-E51F876B3C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55" userDrawn="1">
          <p15:clr>
            <a:srgbClr val="A4A3A4"/>
          </p15:clr>
        </p15:guide>
        <p15:guide id="2" pos="7993" userDrawn="1">
          <p15:clr>
            <a:srgbClr val="A4A3A4"/>
          </p15:clr>
        </p15:guide>
        <p15:guide id="4" pos="10344" userDrawn="1">
          <p15:clr>
            <a:srgbClr val="A4A3A4"/>
          </p15:clr>
        </p15:guide>
        <p15:guide id="5" pos="5492" userDrawn="1">
          <p15:clr>
            <a:srgbClr val="A4A3A4"/>
          </p15:clr>
        </p15:guide>
        <p15:guide id="7" pos="626" userDrawn="1">
          <p15:clr>
            <a:srgbClr val="A4A3A4"/>
          </p15:clr>
        </p15:guide>
        <p15:guide id="8" pos="14908" userDrawn="1">
          <p15:clr>
            <a:srgbClr val="A4A3A4"/>
          </p15:clr>
        </p15:guide>
        <p15:guide id="12" orient="horz" pos="8091" userDrawn="1">
          <p15:clr>
            <a:srgbClr val="A4A3A4"/>
          </p15:clr>
        </p15:guide>
        <p15:guide id="13" orient="horz" pos="1870" userDrawn="1">
          <p15:clr>
            <a:srgbClr val="A4A3A4"/>
          </p15:clr>
        </p15:guide>
        <p15:guide id="14" pos="11342" userDrawn="1">
          <p15:clr>
            <a:srgbClr val="A4A3A4"/>
          </p15:clr>
        </p15:guide>
        <p15:guide id="15" pos="4230" userDrawn="1">
          <p15:clr>
            <a:srgbClr val="A4A3A4"/>
          </p15:clr>
        </p15:guide>
        <p15:guide id="16" orient="horz" pos="25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B683"/>
    <a:srgbClr val="0072BC"/>
    <a:srgbClr val="C09D29"/>
    <a:srgbClr val="3E3E3E"/>
    <a:srgbClr val="525252"/>
    <a:srgbClr val="68045E"/>
    <a:srgbClr val="99CA89"/>
    <a:srgbClr val="CFE09A"/>
    <a:srgbClr val="DAED05"/>
    <a:srgbClr val="92C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6395" autoAdjust="0"/>
  </p:normalViewPr>
  <p:slideViewPr>
    <p:cSldViewPr showGuides="1">
      <p:cViewPr varScale="1">
        <p:scale>
          <a:sx n="58" d="100"/>
          <a:sy n="58" d="100"/>
        </p:scale>
        <p:origin x="408" y="108"/>
      </p:cViewPr>
      <p:guideLst>
        <p:guide orient="horz" pos="555"/>
        <p:guide pos="7993"/>
        <p:guide pos="10344"/>
        <p:guide pos="5492"/>
        <p:guide pos="626"/>
        <p:guide pos="14908"/>
        <p:guide orient="horz" pos="8091"/>
        <p:guide orient="horz" pos="1870"/>
        <p:guide pos="11342"/>
        <p:guide pos="4230"/>
        <p:guide orient="horz" pos="2551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7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1pPr>
    <a:lvl2pPr marL="123063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2pPr>
    <a:lvl3pPr marL="246062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3pPr>
    <a:lvl4pPr marL="369125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4pPr>
    <a:lvl5pPr marL="492188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5pPr>
    <a:lvl6pPr marL="615251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6pPr>
    <a:lvl7pPr marL="738251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7pPr>
    <a:lvl8pPr marL="861314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8pPr>
    <a:lvl9pPr marL="984377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843437" y="7768736"/>
            <a:ext cx="23055913" cy="312171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5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9pPr>
          </a:lstStyle>
          <a:p>
            <a:endParaRPr dirty="0"/>
          </a:p>
        </p:txBody>
      </p:sp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843456" y="2753544"/>
            <a:ext cx="23055913" cy="4464497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>
              <a:spcBef>
                <a:spcPts val="0"/>
              </a:spcBef>
              <a:buSzPct val="100000"/>
              <a:defRPr sz="13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13865"/>
            </a:lvl2pPr>
            <a:lvl3pPr algn="ctr">
              <a:spcBef>
                <a:spcPts val="0"/>
              </a:spcBef>
              <a:buSzPct val="100000"/>
              <a:defRPr sz="13865"/>
            </a:lvl3pPr>
            <a:lvl4pPr algn="ctr">
              <a:spcBef>
                <a:spcPts val="0"/>
              </a:spcBef>
              <a:buSzPct val="100000"/>
              <a:defRPr sz="13865"/>
            </a:lvl4pPr>
            <a:lvl5pPr algn="ctr">
              <a:spcBef>
                <a:spcPts val="0"/>
              </a:spcBef>
              <a:buSzPct val="100000"/>
              <a:defRPr sz="13865"/>
            </a:lvl5pPr>
            <a:lvl6pPr algn="ctr">
              <a:spcBef>
                <a:spcPts val="0"/>
              </a:spcBef>
              <a:buSzPct val="100000"/>
              <a:defRPr sz="13865"/>
            </a:lvl6pPr>
            <a:lvl7pPr algn="ctr">
              <a:spcBef>
                <a:spcPts val="0"/>
              </a:spcBef>
              <a:buSzPct val="100000"/>
              <a:defRPr sz="13865"/>
            </a:lvl7pPr>
            <a:lvl8pPr algn="ctr">
              <a:spcBef>
                <a:spcPts val="0"/>
              </a:spcBef>
              <a:buSzPct val="100000"/>
              <a:defRPr sz="13865"/>
            </a:lvl8pPr>
            <a:lvl9pPr algn="ctr">
              <a:spcBef>
                <a:spcPts val="0"/>
              </a:spcBef>
              <a:buSzPct val="100000"/>
              <a:defRPr sz="13865"/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843437" y="5705872"/>
            <a:ext cx="23055913" cy="2244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SzPct val="100000"/>
              <a:defRPr sz="85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9600"/>
            </a:lvl2pPr>
            <a:lvl3pPr algn="ctr">
              <a:spcBef>
                <a:spcPts val="0"/>
              </a:spcBef>
              <a:buSzPct val="100000"/>
              <a:defRPr sz="9600"/>
            </a:lvl3pPr>
            <a:lvl4pPr algn="ctr">
              <a:spcBef>
                <a:spcPts val="0"/>
              </a:spcBef>
              <a:buSzPct val="100000"/>
              <a:defRPr sz="9600"/>
            </a:lvl4pPr>
            <a:lvl5pPr algn="ctr">
              <a:spcBef>
                <a:spcPts val="0"/>
              </a:spcBef>
              <a:buSzPct val="100000"/>
              <a:defRPr sz="9600"/>
            </a:lvl5pPr>
            <a:lvl6pPr algn="ctr">
              <a:spcBef>
                <a:spcPts val="0"/>
              </a:spcBef>
              <a:buSzPct val="100000"/>
              <a:defRPr sz="9600"/>
            </a:lvl6pPr>
            <a:lvl7pPr algn="ctr">
              <a:spcBef>
                <a:spcPts val="0"/>
              </a:spcBef>
              <a:buSzPct val="100000"/>
              <a:defRPr sz="9600"/>
            </a:lvl7pPr>
            <a:lvl8pPr algn="ctr">
              <a:spcBef>
                <a:spcPts val="0"/>
              </a:spcBef>
              <a:buSzPct val="100000"/>
              <a:defRPr sz="9600"/>
            </a:lvl8pPr>
            <a:lvl9pPr algn="ctr">
              <a:spcBef>
                <a:spcPts val="0"/>
              </a:spcBef>
              <a:buSzPct val="100000"/>
              <a:defRPr sz="9600"/>
            </a:lvl9pPr>
          </a:lstStyle>
          <a:p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857782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16224001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8661" y="560919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35755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57658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0" name="Shape 17"/>
          <p:cNvSpPr txBox="1">
            <a:spLocks noGrp="1"/>
          </p:cNvSpPr>
          <p:nvPr>
            <p:ph type="body" idx="14"/>
          </p:nvPr>
        </p:nvSpPr>
        <p:spPr>
          <a:xfrm>
            <a:off x="6603504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1" name="Shape 17"/>
          <p:cNvSpPr txBox="1">
            <a:spLocks noGrp="1"/>
          </p:cNvSpPr>
          <p:nvPr>
            <p:ph type="body" idx="15"/>
          </p:nvPr>
        </p:nvSpPr>
        <p:spPr>
          <a:xfrm>
            <a:off x="17892761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"/>
          <p:cNvSpPr>
            <a:spLocks noGrp="1"/>
          </p:cNvSpPr>
          <p:nvPr>
            <p:ph type="pic" idx="13"/>
          </p:nvPr>
        </p:nvSpPr>
        <p:spPr>
          <a:xfrm>
            <a:off x="86905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idx="15"/>
          </p:nvPr>
        </p:nvSpPr>
        <p:spPr>
          <a:xfrm>
            <a:off x="163523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Shape 17"/>
          <p:cNvSpPr txBox="1">
            <a:spLocks noGrp="1"/>
          </p:cNvSpPr>
          <p:nvPr>
            <p:ph type="body" idx="14"/>
          </p:nvPr>
        </p:nvSpPr>
        <p:spPr>
          <a:xfrm>
            <a:off x="85804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4" name="Shape 17"/>
          <p:cNvSpPr txBox="1">
            <a:spLocks noGrp="1"/>
          </p:cNvSpPr>
          <p:nvPr>
            <p:ph type="body" idx="16"/>
          </p:nvPr>
        </p:nvSpPr>
        <p:spPr>
          <a:xfrm>
            <a:off x="162422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7" name="Рисунок 2"/>
          <p:cNvSpPr>
            <a:spLocks noGrp="1"/>
          </p:cNvSpPr>
          <p:nvPr>
            <p:ph type="pic" idx="17"/>
          </p:nvPr>
        </p:nvSpPr>
        <p:spPr>
          <a:xfrm>
            <a:off x="18017851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5" name="Рисунок 2"/>
          <p:cNvSpPr>
            <a:spLocks noGrp="1"/>
          </p:cNvSpPr>
          <p:nvPr>
            <p:ph type="pic" idx="15"/>
          </p:nvPr>
        </p:nvSpPr>
        <p:spPr>
          <a:xfrm>
            <a:off x="12371387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idx="13"/>
          </p:nvPr>
        </p:nvSpPr>
        <p:spPr>
          <a:xfrm>
            <a:off x="6720856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20" name="Shape 17"/>
          <p:cNvSpPr txBox="1">
            <a:spLocks noGrp="1"/>
          </p:cNvSpPr>
          <p:nvPr>
            <p:ph type="body" idx="14"/>
          </p:nvPr>
        </p:nvSpPr>
        <p:spPr>
          <a:xfrm>
            <a:off x="6610747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6" name="Shape 17"/>
          <p:cNvSpPr txBox="1">
            <a:spLocks noGrp="1"/>
          </p:cNvSpPr>
          <p:nvPr>
            <p:ph type="body" idx="16"/>
          </p:nvPr>
        </p:nvSpPr>
        <p:spPr>
          <a:xfrm>
            <a:off x="12261278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8" name="Shape 17"/>
          <p:cNvSpPr txBox="1">
            <a:spLocks noGrp="1"/>
          </p:cNvSpPr>
          <p:nvPr>
            <p:ph type="body" idx="18"/>
          </p:nvPr>
        </p:nvSpPr>
        <p:spPr>
          <a:xfrm>
            <a:off x="17907742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71388" y="720000"/>
            <a:ext cx="21600000" cy="1440000"/>
          </a:xfrm>
        </p:spPr>
        <p:txBody>
          <a:bodyPr lIns="0" tIns="0" rIns="0" bIns="0"/>
          <a:lstStyle>
            <a:lvl1pPr algn="ctr" fontAlgn="base">
              <a:defRPr sz="6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1403388" y="12628800"/>
            <a:ext cx="5400000" cy="633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8411388" y="12628800"/>
            <a:ext cx="7920000" cy="633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843437" y="1186742"/>
            <a:ext cx="23055913" cy="15271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843437" y="3073267"/>
            <a:ext cx="23055913" cy="911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r"/>
            <a:fld id="{00000000-1234-1234-1234-123412341234}" type="slidenum">
              <a:rPr lang="en-US" sz="2665" smtClean="0">
                <a:solidFill>
                  <a:schemeClr val="dk2"/>
                </a:solidFill>
              </a:rPr>
            </a:fld>
            <a:endParaRPr lang="en-US" sz="2665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11722735" y="11754485"/>
            <a:ext cx="12978130" cy="156781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Докладчик: Евграфов Михаил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5459095" y="5201920"/>
            <a:ext cx="13825220" cy="3308985"/>
          </a:xfrm>
        </p:spPr>
        <p:txBody>
          <a:bodyPr/>
          <a:lstStyle/>
          <a:p>
            <a:r>
              <a:rPr lang="ru-RU" altLang="ru-RU" sz="9600" dirty="0">
                <a:solidFill>
                  <a:schemeClr val="bg1"/>
                </a:solidFill>
              </a:rPr>
              <a:t>Замыкания и Декораторы</a:t>
            </a:r>
            <a:endParaRPr lang="ru-RU" altLang="ru-RU" sz="96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371" y="1025352"/>
            <a:ext cx="2437777" cy="73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3226435" y="4050030"/>
            <a:ext cx="182257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alt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Замыкания</a:t>
            </a:r>
            <a:endParaRPr lang="ru-RU" alt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64598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35937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Область видимости функций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537460"/>
            <a:ext cx="12510135" cy="9297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endParaRPr lang="en-US" altLang="ru-RU" sz="600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    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Правая фигурная скобка 2"/>
          <p:cNvSpPr/>
          <p:nvPr/>
        </p:nvSpPr>
        <p:spPr>
          <a:xfrm>
            <a:off x="15323185" y="2465705"/>
            <a:ext cx="610870" cy="1408430"/>
          </a:xfrm>
          <a:prstGeom prst="rightBrace">
            <a:avLst>
              <a:gd name="adj1" fmla="val 36698"/>
              <a:gd name="adj2" fmla="val 49413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Правая фигурная скобка 4"/>
          <p:cNvSpPr/>
          <p:nvPr/>
        </p:nvSpPr>
        <p:spPr>
          <a:xfrm>
            <a:off x="15323185" y="5417820"/>
            <a:ext cx="610870" cy="6210300"/>
          </a:xfrm>
          <a:prstGeom prst="rightBrace">
            <a:avLst>
              <a:gd name="adj1" fmla="val 110291"/>
              <a:gd name="adj2" fmla="val 49413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6547465" y="2321560"/>
            <a:ext cx="49644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глобальные переменные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6547465" y="7793990"/>
            <a:ext cx="49644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локальные переменные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3" grpId="1" animBg="1"/>
      <p:bldP spid="7" grpId="1"/>
      <p:bldP spid="5" grpId="0" animBg="1"/>
      <p:bldP spid="8" grpId="0"/>
      <p:bldP spid="5" grpId="1" animBg="1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93722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Чтение глобальных переменных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5415"/>
            <a:ext cx="16949420" cy="8578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var_local = 5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var_global = 42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318258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Изменение глобальных переменных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5415"/>
            <a:ext cx="14436090" cy="8578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modify_global_list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append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 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"lst: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lst: [0, 1, 2]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modify_global_list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"lst: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lst: [0, 1, 2, 42]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94138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Перепривязка 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537460"/>
            <a:ext cx="20702270" cy="9548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print_object_info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"obj ID: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try_to_rebound_global_list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1j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2.72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print_object_info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print_object_info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try_to_rebound_global_list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print_object_info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lst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07007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Результаты перепривязки 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897505"/>
            <a:ext cx="11996420" cy="809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obj = [0, 1, 2]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obj ID: 2827461041664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obj = [-1j, 2.72, 3.14]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obj ID: 2827461397440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obj = [0, 1, 2]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obj ID: 2827461041664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36051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Когда переменная глобальная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5415"/>
            <a:ext cx="16949420" cy="8578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1337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var_local = 1337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var_global = 42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99793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Когда переменная локальная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93315"/>
            <a:ext cx="16949420" cy="9404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1337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var_local = 1337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var_global = 3.14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38084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 так, и так не бывает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496820"/>
            <a:ext cx="16618585" cy="9735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ru-RU"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var_global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3.14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var_global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1337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ru-RU"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UnboundLocalError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ru-RU"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4291330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global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993775" y="2465705"/>
            <a:ext cx="14304645" cy="9735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global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1337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var_global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var_local = 1337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var_global = 42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var_global = 3.14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11732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Вложенные функции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458845"/>
            <a:ext cx="16769715" cy="7672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get_printer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Callable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var_nonloc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var_nonloc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endParaRPr lang="en-US" altLang="ru-RU" sz="54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Правая фигурная скобка 2"/>
          <p:cNvSpPr/>
          <p:nvPr/>
        </p:nvSpPr>
        <p:spPr>
          <a:xfrm>
            <a:off x="17699990" y="4481830"/>
            <a:ext cx="610870" cy="1408430"/>
          </a:xfrm>
          <a:prstGeom prst="rightBrace">
            <a:avLst>
              <a:gd name="adj1" fmla="val 36698"/>
              <a:gd name="adj2" fmla="val 49413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Правая фигурная скобка 4"/>
          <p:cNvSpPr/>
          <p:nvPr/>
        </p:nvSpPr>
        <p:spPr>
          <a:xfrm>
            <a:off x="17699990" y="6299835"/>
            <a:ext cx="610870" cy="4037965"/>
          </a:xfrm>
          <a:prstGeom prst="rightBrace">
            <a:avLst>
              <a:gd name="adj1" fmla="val 77546"/>
              <a:gd name="adj2" fmla="val 49413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8635980" y="4337685"/>
            <a:ext cx="49644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нелокальные</a:t>
            </a:r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переменные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8635980" y="7534910"/>
            <a:ext cx="49644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локальные переменные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7" grpId="0"/>
      <p:bldP spid="3" grpId="1" animBg="1"/>
      <p:bldP spid="7" grpId="1"/>
      <p:bldP spid="5" grpId="0" bldLvl="0" animBg="1"/>
      <p:bldP spid="8" grpId="0"/>
      <p:bldP spid="5" grpId="1" animBg="1"/>
      <p:bldP spid="8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67560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Когда переменная нелокальная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85415"/>
            <a:ext cx="16985615" cy="9749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get_printer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Callable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var_nonloc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var_nonloc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get_printer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var_local = 5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var_nonloc = 42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46973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Когда переменная локальная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93315"/>
            <a:ext cx="16985615" cy="9912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get_printer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Callable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var_nonloc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var_nonloc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3.14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var_nonloc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get_printer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var_local = 5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var_nonloc = 3.14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38084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 так, и так не бывает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93315"/>
            <a:ext cx="16618585" cy="9735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get_printer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Callable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[[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None]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var_nonloc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42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print_vars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var_local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var_local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var_nonloc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var_nonloc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3.14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return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print_vars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print_vars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get_printer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print_vars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var_local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5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...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UnboundLocalError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: ...</a:t>
            </a:r>
            <a:endParaRPr lang="ru-RU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38084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nonlocal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93315"/>
            <a:ext cx="19690080" cy="9735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get_printer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Callable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[[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None]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var_nonloc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var_nonloc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var_nonloc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var_nonloc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endParaRPr lang="en-US" altLang="ru-RU" sz="60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380845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nonlocal: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результат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257550"/>
            <a:ext cx="11951335" cy="7954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get_printer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var_local = 5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var_nonloc = 42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print_vars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var_local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var_local = 5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var_nonloc = 3.14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76273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Когда использовать </a:t>
            </a:r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global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12670"/>
            <a:ext cx="16953865" cy="10102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get_counter_curr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global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counter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counter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+=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counter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counter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"counter: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get_counter_curr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counter: 1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counter: 2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counter: 3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67561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Когда 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global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 работает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12670"/>
            <a:ext cx="19417665" cy="10019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get_counter_curr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global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counter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counter 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+=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counter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counter 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get_counter1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get_counter_curr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get_counter2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get_counter_curr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get_counter1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get_counter2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746506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Замыкания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833495"/>
            <a:ext cx="16927195" cy="8451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get_counter_func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Callable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[[]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counter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get_counter_curr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nonlocal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counter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counter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+=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counter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get_counter_curr</a:t>
            </a:r>
            <a:endParaRPr lang="en-US" altLang="ru-RU" sz="54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Правая фигурная скобка 2"/>
          <p:cNvSpPr/>
          <p:nvPr/>
        </p:nvSpPr>
        <p:spPr>
          <a:xfrm>
            <a:off x="17807305" y="6353810"/>
            <a:ext cx="730885" cy="3607435"/>
          </a:xfrm>
          <a:prstGeom prst="rightBrace">
            <a:avLst>
              <a:gd name="adj1" fmla="val 55343"/>
              <a:gd name="adj2" fmla="val 50007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8735675" y="7649845"/>
            <a:ext cx="42583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замыкание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8735675" y="4684395"/>
            <a:ext cx="42583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контекст замыкания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9" name="Правая фигурная скобка 8"/>
          <p:cNvSpPr/>
          <p:nvPr/>
        </p:nvSpPr>
        <p:spPr>
          <a:xfrm>
            <a:off x="17807305" y="4792980"/>
            <a:ext cx="730885" cy="1351915"/>
          </a:xfrm>
          <a:prstGeom prst="rightBrace">
            <a:avLst>
              <a:gd name="adj1" fmla="val 30234"/>
              <a:gd name="adj2" fmla="val 50007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985645" y="2249170"/>
            <a:ext cx="73787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фабричная функция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5674995" y="3041650"/>
            <a:ext cx="0" cy="7918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5" grpId="1"/>
      <p:bldP spid="3" grpId="1" animBg="1"/>
      <p:bldP spid="7" grpId="0"/>
      <p:bldP spid="9" grpId="0" animBg="1"/>
      <p:bldP spid="7" grpId="1"/>
      <p:bldP spid="9" grpId="1" animBg="1"/>
      <p:bldP spid="10" grpId="0"/>
      <p:bldP spid="1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78507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Замыкания: результат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430145"/>
            <a:ext cx="18284190" cy="10005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get_counter1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get_counter_func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get_counter2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get_counter_func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get_counter1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get_counter2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get_counter1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get_counter2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6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78507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Где хранится контекст замыкания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969260"/>
            <a:ext cx="21606510" cy="8827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"locals: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get_counter1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__code__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co_varnames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locals: ()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"free vars: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get_counter1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__code__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co_freevars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free vars: ('counter',)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"context: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get_counter1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__closure__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context: (&lt;cell at 0x00000292518E9BA0: ...)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cell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enumerate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get_counter1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__closure__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"cell_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content: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cell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cell_contents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cell_0 content: 4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3513455" y="4050030"/>
            <a:ext cx="182257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alt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Декораторы</a:t>
            </a:r>
            <a:endParaRPr lang="ru-RU" alt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64598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78507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Декораторы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82065" y="2105660"/>
            <a:ext cx="11902440" cy="10862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my_decorator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wrapper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args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'start function'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args,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'finished function'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wrapper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@my_decorator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'do_something'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start function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do_something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finished function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78507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Синтаксический сахар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82065" y="2105660"/>
            <a:ext cx="14127480" cy="11198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my_decorator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func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wrapper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args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**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kwargs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'start function'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result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func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args,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**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kwargs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'finished function'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return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result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return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wrapper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do_something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'do_something'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my_decorator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&gt;&gt;&gt;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do_something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start function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do_something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finished function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653796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Подмена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82065" y="2105660"/>
            <a:ext cx="12308205" cy="9789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my_decorator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func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wrapper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args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**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kwargs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'start function'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result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func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args,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**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kwargs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'finished function'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return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result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return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wrapper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@my_decorator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do_something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()</a:t>
            </a: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4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'do_something'</a:t>
            </a:r>
            <a:r>
              <a:rPr lang="en-US" altLang="ru-RU" sz="4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4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en-US" sz="4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4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en-US" sz="4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endParaRPr lang="en-US" altLang="en-US" sz="44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'wrapper'</a:t>
            </a:r>
            <a:endParaRPr lang="en-US" altLang="en-US" sz="44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6537960" cy="1755140"/>
          </a:xfrm>
        </p:spPr>
        <p:txBody>
          <a:bodyPr/>
          <a:lstStyle/>
          <a:p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wraps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82065" y="2033270"/>
            <a:ext cx="12308205" cy="1062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from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functools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import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wraps</a:t>
            </a:r>
            <a:endParaRPr lang="en-US" altLang="ru-RU" sz="4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my_decorator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func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000"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@wraps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func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wrapper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args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**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kwargs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'start function'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result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func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args,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**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kwargs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'finished function'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return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result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return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wrapper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@my_decorator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def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do_something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()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: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4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'do_something'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en-US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4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en-US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endParaRPr lang="en-US" altLang="en-US" sz="4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'do_something</a:t>
            </a:r>
            <a:endParaRPr lang="en-US" altLang="en-US" sz="40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9544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Момент выполнения декораторов 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82065" y="2177415"/>
            <a:ext cx="11784330" cy="1062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decorate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4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'run decorate'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4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</a:t>
            </a:r>
            <a:endParaRPr lang="en-US" altLang="en-US" sz="4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4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@decorate</a:t>
            </a:r>
            <a:endParaRPr lang="en-US" altLang="en-US" sz="48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4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'do_something'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4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4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@decorate</a:t>
            </a:r>
            <a:endParaRPr lang="en-US" altLang="en-US" sz="48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do_another_thing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4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'do_another_thing'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4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4800">
              <a:solidFill>
                <a:schemeClr val="accent4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run decorate</a:t>
            </a:r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run decorate</a:t>
            </a:r>
            <a:endParaRPr lang="en-US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8770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Композиция декораторов 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82065" y="2033270"/>
            <a:ext cx="13807440" cy="9972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outer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wrapper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args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'outer'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args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wrapper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inner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wrapper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args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('inner')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args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wrapper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8770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Композиция декораторов 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82065" y="2681605"/>
            <a:ext cx="13807440" cy="8570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@outer</a:t>
            </a:r>
            <a:endParaRPr lang="en-US" altLang="en-US" sz="60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@inner</a:t>
            </a:r>
            <a:endParaRPr lang="en-US" altLang="en-US" sz="60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'do_something'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outer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inner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do_something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88770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Композиция декораторов 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82065" y="2681605"/>
            <a:ext cx="19208115" cy="8570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'do_something'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outer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inner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outer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inner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do_something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99449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Параметризованный декоратор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82065" y="2681605"/>
            <a:ext cx="16245205" cy="9244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functools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wraps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Callable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str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Callable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_print_greeting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@wraps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_wrapper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args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greeting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 {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en-US" sz="48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func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args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kwargs</a:t>
            </a:r>
            <a:r>
              <a:rPr lang="en-US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_wrapper</a:t>
            </a:r>
            <a:endParaRPr lang="en-US" altLang="en-US" sz="48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en-US" sz="4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_print_greeting</a:t>
            </a:r>
            <a:endParaRPr lang="en-US" altLang="en-US" sz="48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99449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Параметризованный декоратор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282065" y="3223895"/>
            <a:ext cx="21269325" cy="8702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@print_greeting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'</a:t>
            </a:r>
            <a:r>
              <a:rPr lang="en-US"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Hello world! Now I will run:</a:t>
            </a:r>
            <a:r>
              <a:rPr lang="en-US"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'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'do something'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Hello world! Now I will run: do_something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do something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99449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Параметризованный декоратор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223895"/>
            <a:ext cx="23461345" cy="8702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'do something'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print_greeting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en-US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"Run: "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)(</a:t>
            </a:r>
            <a:r>
              <a:rPr lang="en-US" altLang="en-US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en-US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do_something</a:t>
            </a:r>
            <a:r>
              <a:rPr lang="en-US" altLang="en-US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Run:  do_something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latin typeface="Consolas" panose="020B0609020204030204" charset="0"/>
                <a:cs typeface="Consolas" panose="020B0609020204030204" charset="0"/>
              </a:rPr>
              <a:t>do something</a:t>
            </a:r>
            <a:endParaRPr lang="en-US" altLang="en-US" sz="6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3513455" y="4050030"/>
            <a:ext cx="18225770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l"/>
            <a:r>
              <a:rPr 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Семинар</a:t>
            </a:r>
            <a:endParaRPr 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Группа 9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11" name="Овал 10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12" name="Овал 11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3" name="Овал 2"/>
          <p:cNvSpPr/>
          <p:nvPr/>
        </p:nvSpPr>
        <p:spPr>
          <a:xfrm>
            <a:off x="2764598" y="12258675"/>
            <a:ext cx="294135" cy="2971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simple-light-2">
  <a:themeElements>
    <a:clrScheme name="МФТИ">
      <a:dk1>
        <a:srgbClr val="525252"/>
      </a:dk1>
      <a:lt1>
        <a:srgbClr val="FFFFFF"/>
      </a:lt1>
      <a:dk2>
        <a:srgbClr val="525252"/>
      </a:dk2>
      <a:lt2>
        <a:srgbClr val="FFFFFF"/>
      </a:lt2>
      <a:accent1>
        <a:srgbClr val="0072BC"/>
      </a:accent1>
      <a:accent2>
        <a:srgbClr val="525252"/>
      </a:accent2>
      <a:accent3>
        <a:srgbClr val="7C7C7C"/>
      </a:accent3>
      <a:accent4>
        <a:srgbClr val="FFAB40"/>
      </a:accent4>
      <a:accent5>
        <a:srgbClr val="0072BC"/>
      </a:accent5>
      <a:accent6>
        <a:srgbClr val="525252"/>
      </a:accent6>
      <a:hlink>
        <a:srgbClr val="FFAB40"/>
      </a:hlink>
      <a:folHlink>
        <a:srgbClr val="92C5EB"/>
      </a:folHlink>
    </a:clrScheme>
    <a:fontScheme name="МФТИ">
      <a:majorFont>
        <a:latin typeface="Arial Blac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7899</Words>
  <Application>WPS Presentation</Application>
  <PresentationFormat>Произвольный</PresentationFormat>
  <Paragraphs>524</Paragraphs>
  <Slides>35</Slides>
  <Notes>10</Notes>
  <HiddenSlides>0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Arial</vt:lpstr>
      <vt:lpstr>SimSun</vt:lpstr>
      <vt:lpstr>Wingdings</vt:lpstr>
      <vt:lpstr>Arial</vt:lpstr>
      <vt:lpstr>Segoe UI</vt:lpstr>
      <vt:lpstr>Arial Black</vt:lpstr>
      <vt:lpstr>Tahoma</vt:lpstr>
      <vt:lpstr>Franklin Gothic Book</vt:lpstr>
      <vt:lpstr>Consolas</vt:lpstr>
      <vt:lpstr>Microsoft YaHei</vt:lpstr>
      <vt:lpstr>Arial Unicode MS</vt:lpstr>
      <vt:lpstr>simple-light-2</vt:lpstr>
      <vt:lpstr>Декораторы</vt:lpstr>
      <vt:lpstr>Замыкания</vt:lpstr>
      <vt:lpstr>Глобальные переменные</vt:lpstr>
      <vt:lpstr>Область видимости функций</vt:lpstr>
      <vt:lpstr>Чтение глобальных переменных</vt:lpstr>
      <vt:lpstr>Изменение глобальных переменных</vt:lpstr>
      <vt:lpstr>Перепривязка </vt:lpstr>
      <vt:lpstr>Чтение глобальных переменных</vt:lpstr>
      <vt:lpstr>Когда переменная глобальная</vt:lpstr>
      <vt:lpstr>Когда переменная локальная</vt:lpstr>
      <vt:lpstr>И так, и так не бывает</vt:lpstr>
      <vt:lpstr>Область видимости функций</vt:lpstr>
      <vt:lpstr>Когда переменная глобальная</vt:lpstr>
      <vt:lpstr>Когда переменная нелокальная</vt:lpstr>
      <vt:lpstr>И так, и так не бывает</vt:lpstr>
      <vt:lpstr>И так, и так не бывает</vt:lpstr>
      <vt:lpstr>nonlocal</vt:lpstr>
      <vt:lpstr>Когда не работает global</vt:lpstr>
      <vt:lpstr>Когда использовать global</vt:lpstr>
      <vt:lpstr>Когда global не работает</vt:lpstr>
      <vt:lpstr>Замыкания</vt:lpstr>
      <vt:lpstr>Замыкания: результат</vt:lpstr>
      <vt:lpstr>Декораторы</vt:lpstr>
      <vt:lpstr>Декораторы</vt:lpstr>
      <vt:lpstr>Синтаксический сахар</vt:lpstr>
      <vt:lpstr>Подмена</vt:lpstr>
      <vt:lpstr>wraps</vt:lpstr>
      <vt:lpstr>Момент выполнения декораторов </vt:lpstr>
      <vt:lpstr>Композиция декораторов </vt:lpstr>
      <vt:lpstr>Композиция декораторов </vt:lpstr>
      <vt:lpstr>Композиция декораторов </vt:lpstr>
      <vt:lpstr>Параметризованный декоратор</vt:lpstr>
      <vt:lpstr>Параметризованный декоратор</vt:lpstr>
      <vt:lpstr>Параметризованный декоратор</vt:lpstr>
      <vt:lpstr>Семинар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MIPT / Phystech</dc:title>
  <dc:creator>Marina</dc:creator>
  <cp:lastModifiedBy>Michail Evgrafov</cp:lastModifiedBy>
  <cp:revision>631</cp:revision>
  <dcterms:created xsi:type="dcterms:W3CDTF">2023-09-07T15:23:00Z</dcterms:created>
  <dcterms:modified xsi:type="dcterms:W3CDTF">2025-11-05T19:36:44Z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939A7A65A70D42D3AFBDFCFAB1B7D962_12</vt:lpwstr>
  </property>
  <property fmtid="{D5CDD505-2E9C-101B-9397-08002B2CF9AE}" pid="3" name="KSOProductBuildVer">
    <vt:lpwstr>1049-12.2.0.23155</vt:lpwstr>
  </property>
</Properties>
</file>