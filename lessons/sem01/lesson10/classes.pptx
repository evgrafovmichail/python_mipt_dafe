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306" r:id="rId3"/>
    <p:sldId id="486" r:id="rId4"/>
    <p:sldId id="487" r:id="rId6"/>
    <p:sldId id="528" r:id="rId7"/>
    <p:sldId id="559" r:id="rId8"/>
    <p:sldId id="529" r:id="rId9"/>
    <p:sldId id="536" r:id="rId10"/>
    <p:sldId id="570" r:id="rId11"/>
    <p:sldId id="560" r:id="rId12"/>
    <p:sldId id="571" r:id="rId13"/>
    <p:sldId id="561" r:id="rId14"/>
    <p:sldId id="562" r:id="rId15"/>
    <p:sldId id="563" r:id="rId16"/>
    <p:sldId id="564" r:id="rId17"/>
    <p:sldId id="565" r:id="rId18"/>
    <p:sldId id="566" r:id="rId19"/>
    <p:sldId id="568" r:id="rId20"/>
    <p:sldId id="567" r:id="rId21"/>
    <p:sldId id="569" r:id="rId22"/>
    <p:sldId id="534" r:id="rId23"/>
    <p:sldId id="573" r:id="rId24"/>
    <p:sldId id="572" r:id="rId25"/>
    <p:sldId id="577" r:id="rId26"/>
    <p:sldId id="574" r:id="rId27"/>
    <p:sldId id="535" r:id="rId28"/>
    <p:sldId id="575" r:id="rId29"/>
    <p:sldId id="578" r:id="rId30"/>
    <p:sldId id="579" r:id="rId31"/>
    <p:sldId id="543" r:id="rId32"/>
    <p:sldId id="580" r:id="rId33"/>
    <p:sldId id="581" r:id="rId34"/>
    <p:sldId id="539" r:id="rId35"/>
    <p:sldId id="540" r:id="rId36"/>
    <p:sldId id="582" r:id="rId37"/>
    <p:sldId id="545" r:id="rId38"/>
    <p:sldId id="548" r:id="rId39"/>
    <p:sldId id="549" r:id="rId40"/>
    <p:sldId id="550" r:id="rId41"/>
    <p:sldId id="583" r:id="rId42"/>
    <p:sldId id="331" r:id="rId43"/>
  </p:sldIdLst>
  <p:sldSz cx="24742775" cy="13716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CCCB284-FAD9-4ACF-BBE5-987686199942}">
          <p14:sldIdLst>
            <p14:sldId id="306"/>
            <p14:sldId id="486"/>
            <p14:sldId id="487"/>
            <p14:sldId id="528"/>
            <p14:sldId id="559"/>
            <p14:sldId id="529"/>
            <p14:sldId id="536"/>
            <p14:sldId id="570"/>
            <p14:sldId id="560"/>
            <p14:sldId id="571"/>
            <p14:sldId id="561"/>
            <p14:sldId id="562"/>
            <p14:sldId id="563"/>
            <p14:sldId id="564"/>
            <p14:sldId id="565"/>
            <p14:sldId id="566"/>
            <p14:sldId id="568"/>
            <p14:sldId id="567"/>
            <p14:sldId id="569"/>
            <p14:sldId id="534"/>
            <p14:sldId id="573"/>
            <p14:sldId id="572"/>
            <p14:sldId id="577"/>
            <p14:sldId id="574"/>
            <p14:sldId id="535"/>
            <p14:sldId id="575"/>
            <p14:sldId id="578"/>
            <p14:sldId id="579"/>
            <p14:sldId id="543"/>
            <p14:sldId id="580"/>
            <p14:sldId id="581"/>
            <p14:sldId id="539"/>
            <p14:sldId id="540"/>
            <p14:sldId id="582"/>
            <p14:sldId id="545"/>
            <p14:sldId id="548"/>
            <p14:sldId id="549"/>
            <p14:sldId id="550"/>
            <p14:sldId id="583"/>
            <p14:sldId id="331"/>
          </p14:sldIdLst>
        </p14:section>
        <p14:section name="Раздел без заголовка" id="{F03BB59A-273A-4306-BA96-E51F876B3C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pos="7954" userDrawn="1">
          <p15:clr>
            <a:srgbClr val="A4A3A4"/>
          </p15:clr>
        </p15:guide>
        <p15:guide id="4" pos="10344" userDrawn="1">
          <p15:clr>
            <a:srgbClr val="A4A3A4"/>
          </p15:clr>
        </p15:guide>
        <p15:guide id="5" pos="5529" userDrawn="1">
          <p15:clr>
            <a:srgbClr val="A4A3A4"/>
          </p15:clr>
        </p15:guide>
        <p15:guide id="7" pos="626" userDrawn="1">
          <p15:clr>
            <a:srgbClr val="A4A3A4"/>
          </p15:clr>
        </p15:guide>
        <p15:guide id="8" pos="14908" userDrawn="1">
          <p15:clr>
            <a:srgbClr val="A4A3A4"/>
          </p15:clr>
        </p15:guide>
        <p15:guide id="12" orient="horz" pos="8058" userDrawn="1">
          <p15:clr>
            <a:srgbClr val="A4A3A4"/>
          </p15:clr>
        </p15:guide>
        <p15:guide id="13" orient="horz" pos="1870" userDrawn="1">
          <p15:clr>
            <a:srgbClr val="A4A3A4"/>
          </p15:clr>
        </p15:guide>
        <p15:guide id="14" pos="11296" userDrawn="1">
          <p15:clr>
            <a:srgbClr val="A4A3A4"/>
          </p15:clr>
        </p15:guide>
        <p15:guide id="15" pos="4201" userDrawn="1">
          <p15:clr>
            <a:srgbClr val="A4A3A4"/>
          </p15:clr>
        </p15:guide>
        <p15:guide id="16" orient="horz" pos="25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9D29"/>
    <a:srgbClr val="7CB683"/>
    <a:srgbClr val="0072BC"/>
    <a:srgbClr val="DBE8DE"/>
    <a:srgbClr val="EDDBAD"/>
    <a:srgbClr val="BCD6FD"/>
    <a:srgbClr val="E3C496"/>
    <a:srgbClr val="C9AAE0"/>
    <a:srgbClr val="3E3E3E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6395" autoAdjust="0"/>
  </p:normalViewPr>
  <p:slideViewPr>
    <p:cSldViewPr showGuides="1">
      <p:cViewPr varScale="1">
        <p:scale>
          <a:sx n="58" d="100"/>
          <a:sy n="58" d="100"/>
        </p:scale>
        <p:origin x="408" y="108"/>
      </p:cViewPr>
      <p:guideLst>
        <p:guide orient="horz" pos="555"/>
        <p:guide pos="7954"/>
        <p:guide pos="10344"/>
        <p:guide pos="5529"/>
        <p:guide pos="626"/>
        <p:guide pos="14908"/>
        <p:guide orient="horz" pos="8058"/>
        <p:guide orient="horz" pos="1870"/>
        <p:guide pos="11296"/>
        <p:guide pos="4201"/>
        <p:guide orient="horz" pos="2551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1pPr>
    <a:lvl2pPr marL="123063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2pPr>
    <a:lvl3pPr marL="246062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3pPr>
    <a:lvl4pPr marL="369125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4pPr>
    <a:lvl5pPr marL="492188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5pPr>
    <a:lvl6pPr marL="615251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6pPr>
    <a:lvl7pPr marL="738251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7pPr>
    <a:lvl8pPr marL="861314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8pPr>
    <a:lvl9pPr marL="984377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843437" y="7768736"/>
            <a:ext cx="23055913" cy="312171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5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9pPr>
          </a:lstStyle>
          <a:p>
            <a:endParaRPr dirty="0"/>
          </a:p>
        </p:txBody>
      </p:sp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843456" y="2753544"/>
            <a:ext cx="23055913" cy="4464497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13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13865"/>
            </a:lvl2pPr>
            <a:lvl3pPr algn="ctr">
              <a:spcBef>
                <a:spcPts val="0"/>
              </a:spcBef>
              <a:buSzPct val="100000"/>
              <a:defRPr sz="13865"/>
            </a:lvl3pPr>
            <a:lvl4pPr algn="ctr">
              <a:spcBef>
                <a:spcPts val="0"/>
              </a:spcBef>
              <a:buSzPct val="100000"/>
              <a:defRPr sz="13865"/>
            </a:lvl4pPr>
            <a:lvl5pPr algn="ctr">
              <a:spcBef>
                <a:spcPts val="0"/>
              </a:spcBef>
              <a:buSzPct val="100000"/>
              <a:defRPr sz="13865"/>
            </a:lvl5pPr>
            <a:lvl6pPr algn="ctr">
              <a:spcBef>
                <a:spcPts val="0"/>
              </a:spcBef>
              <a:buSzPct val="100000"/>
              <a:defRPr sz="13865"/>
            </a:lvl6pPr>
            <a:lvl7pPr algn="ctr">
              <a:spcBef>
                <a:spcPts val="0"/>
              </a:spcBef>
              <a:buSzPct val="100000"/>
              <a:defRPr sz="13865"/>
            </a:lvl7pPr>
            <a:lvl8pPr algn="ctr">
              <a:spcBef>
                <a:spcPts val="0"/>
              </a:spcBef>
              <a:buSzPct val="100000"/>
              <a:defRPr sz="13865"/>
            </a:lvl8pPr>
            <a:lvl9pPr algn="ctr">
              <a:spcBef>
                <a:spcPts val="0"/>
              </a:spcBef>
              <a:buSzPct val="100000"/>
              <a:defRPr sz="13865"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843437" y="5705872"/>
            <a:ext cx="23055913" cy="2244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9600"/>
            </a:lvl2pPr>
            <a:lvl3pPr algn="ctr">
              <a:spcBef>
                <a:spcPts val="0"/>
              </a:spcBef>
              <a:buSzPct val="100000"/>
              <a:defRPr sz="9600"/>
            </a:lvl3pPr>
            <a:lvl4pPr algn="ctr">
              <a:spcBef>
                <a:spcPts val="0"/>
              </a:spcBef>
              <a:buSzPct val="100000"/>
              <a:defRPr sz="9600"/>
            </a:lvl4pPr>
            <a:lvl5pPr algn="ctr">
              <a:spcBef>
                <a:spcPts val="0"/>
              </a:spcBef>
              <a:buSzPct val="100000"/>
              <a:defRPr sz="9600"/>
            </a:lvl5pPr>
            <a:lvl6pPr algn="ctr">
              <a:spcBef>
                <a:spcPts val="0"/>
              </a:spcBef>
              <a:buSzPct val="100000"/>
              <a:defRPr sz="9600"/>
            </a:lvl6pPr>
            <a:lvl7pPr algn="ctr">
              <a:spcBef>
                <a:spcPts val="0"/>
              </a:spcBef>
              <a:buSzPct val="100000"/>
              <a:defRPr sz="9600"/>
            </a:lvl7pPr>
            <a:lvl8pPr algn="ctr">
              <a:spcBef>
                <a:spcPts val="0"/>
              </a:spcBef>
              <a:buSzPct val="100000"/>
              <a:defRPr sz="9600"/>
            </a:lvl8pPr>
            <a:lvl9pPr algn="ctr">
              <a:spcBef>
                <a:spcPts val="0"/>
              </a:spcBef>
              <a:buSzPct val="100000"/>
              <a:defRPr sz="9600"/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857782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16224001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8661" y="560919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35755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57658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17"/>
          <p:cNvSpPr txBox="1">
            <a:spLocks noGrp="1"/>
          </p:cNvSpPr>
          <p:nvPr>
            <p:ph type="body" idx="14"/>
          </p:nvPr>
        </p:nvSpPr>
        <p:spPr>
          <a:xfrm>
            <a:off x="6603504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7"/>
          <p:cNvSpPr txBox="1">
            <a:spLocks noGrp="1"/>
          </p:cNvSpPr>
          <p:nvPr>
            <p:ph type="body" idx="15"/>
          </p:nvPr>
        </p:nvSpPr>
        <p:spPr>
          <a:xfrm>
            <a:off x="17892761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"/>
          <p:cNvSpPr>
            <a:spLocks noGrp="1"/>
          </p:cNvSpPr>
          <p:nvPr>
            <p:ph type="pic" idx="13"/>
          </p:nvPr>
        </p:nvSpPr>
        <p:spPr>
          <a:xfrm>
            <a:off x="86905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idx="15"/>
          </p:nvPr>
        </p:nvSpPr>
        <p:spPr>
          <a:xfrm>
            <a:off x="163523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Shape 17"/>
          <p:cNvSpPr txBox="1">
            <a:spLocks noGrp="1"/>
          </p:cNvSpPr>
          <p:nvPr>
            <p:ph type="body" idx="14"/>
          </p:nvPr>
        </p:nvSpPr>
        <p:spPr>
          <a:xfrm>
            <a:off x="85804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Shape 17"/>
          <p:cNvSpPr txBox="1">
            <a:spLocks noGrp="1"/>
          </p:cNvSpPr>
          <p:nvPr>
            <p:ph type="body" idx="16"/>
          </p:nvPr>
        </p:nvSpPr>
        <p:spPr>
          <a:xfrm>
            <a:off x="162422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7" name="Рисунок 2"/>
          <p:cNvSpPr>
            <a:spLocks noGrp="1"/>
          </p:cNvSpPr>
          <p:nvPr>
            <p:ph type="pic" idx="17"/>
          </p:nvPr>
        </p:nvSpPr>
        <p:spPr>
          <a:xfrm>
            <a:off x="18017851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5" name="Рисунок 2"/>
          <p:cNvSpPr>
            <a:spLocks noGrp="1"/>
          </p:cNvSpPr>
          <p:nvPr>
            <p:ph type="pic" idx="15"/>
          </p:nvPr>
        </p:nvSpPr>
        <p:spPr>
          <a:xfrm>
            <a:off x="12371387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idx="13"/>
          </p:nvPr>
        </p:nvSpPr>
        <p:spPr>
          <a:xfrm>
            <a:off x="6720856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20" name="Shape 17"/>
          <p:cNvSpPr txBox="1">
            <a:spLocks noGrp="1"/>
          </p:cNvSpPr>
          <p:nvPr>
            <p:ph type="body" idx="14"/>
          </p:nvPr>
        </p:nvSpPr>
        <p:spPr>
          <a:xfrm>
            <a:off x="6610747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6" name="Shape 17"/>
          <p:cNvSpPr txBox="1">
            <a:spLocks noGrp="1"/>
          </p:cNvSpPr>
          <p:nvPr>
            <p:ph type="body" idx="16"/>
          </p:nvPr>
        </p:nvSpPr>
        <p:spPr>
          <a:xfrm>
            <a:off x="12261278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8" name="Shape 17"/>
          <p:cNvSpPr txBox="1">
            <a:spLocks noGrp="1"/>
          </p:cNvSpPr>
          <p:nvPr>
            <p:ph type="body" idx="18"/>
          </p:nvPr>
        </p:nvSpPr>
        <p:spPr>
          <a:xfrm>
            <a:off x="17907742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71388" y="720000"/>
            <a:ext cx="21600000" cy="1440000"/>
          </a:xfrm>
        </p:spPr>
        <p:txBody>
          <a:bodyPr lIns="0" tIns="0" rIns="0" bIns="0"/>
          <a:lstStyle>
            <a:lvl1pPr algn="ctr" fontAlgn="base">
              <a:defRPr sz="6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1403388" y="12628800"/>
            <a:ext cx="540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8411388" y="12628800"/>
            <a:ext cx="792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843437" y="1186742"/>
            <a:ext cx="23055913" cy="1527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843437" y="3073267"/>
            <a:ext cx="23055913" cy="91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-US" sz="2665" smtClean="0">
                <a:solidFill>
                  <a:schemeClr val="dk2"/>
                </a:solidFill>
              </a:rPr>
            </a:fld>
            <a:endParaRPr lang="en-US" sz="2665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1722735" y="11754485"/>
            <a:ext cx="12978130" cy="156781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Докладчик: Евграфов Михаил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5459095" y="5308600"/>
            <a:ext cx="13825220" cy="3099435"/>
          </a:xfrm>
        </p:spPr>
        <p:txBody>
          <a:bodyPr/>
          <a:lstStyle/>
          <a:p>
            <a:r>
              <a:rPr lang="ru-RU" altLang="ru-RU" sz="9600" dirty="0">
                <a:solidFill>
                  <a:schemeClr val="bg1"/>
                </a:solidFill>
              </a:rPr>
              <a:t>Пользовательские классы</a:t>
            </a:r>
            <a:endParaRPr lang="ru-RU" altLang="ru-RU" sz="96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371" y="1025352"/>
            <a:ext cx="2437777" cy="73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Объекты</a:t>
            </a:r>
            <a:r>
              <a:rPr lang="en-US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-</a:t>
            </a:r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классы</a:t>
            </a:r>
            <a:endParaRPr lang="en-US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32992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Определение класса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497965" y="5129530"/>
            <a:ext cx="9638030" cy="425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statement1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statement2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2506345" y="2513965"/>
            <a:ext cx="62407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идентификатор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0210800" y="2609215"/>
            <a:ext cx="73914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родительские классы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>
            <a:off x="11435080" y="6209665"/>
            <a:ext cx="547370" cy="2446655"/>
          </a:xfrm>
          <a:prstGeom prst="rightBrace">
            <a:avLst>
              <a:gd name="adj1" fmla="val 46737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1918950" y="6642100"/>
            <a:ext cx="39744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тело</a:t>
            </a:r>
            <a:r>
              <a:rPr lang="en-US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ru-RU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класса</a:t>
            </a:r>
            <a:endParaRPr lang="ru-RU" altLang="ru-RU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602605" y="3545205"/>
            <a:ext cx="0" cy="14401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8986520" y="3545840"/>
            <a:ext cx="3312795" cy="14319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/>
      <p:bldP spid="9" grpId="0" bldLvl="0" animBg="1"/>
      <p:bldP spid="10" grpId="1"/>
      <p:bldP spid="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97707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Объект-класс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20535900" cy="1019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"MyClass type: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&lt;class '__main__.MyClass'&gt;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MyClass type: type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97707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Объект-класс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cxnSp>
        <p:nvCxnSpPr>
          <p:cNvPr id="3" name="Прямая со стрелкой 2"/>
          <p:cNvCxnSpPr/>
          <p:nvPr/>
        </p:nvCxnSpPr>
        <p:spPr>
          <a:xfrm>
            <a:off x="6106795" y="7218045"/>
            <a:ext cx="734441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Скругленный прямоугольник 4"/>
          <p:cNvSpPr/>
          <p:nvPr/>
        </p:nvSpPr>
        <p:spPr>
          <a:xfrm>
            <a:off x="14459585" y="6137910"/>
            <a:ext cx="2245360" cy="216027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class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80110" y="2105025"/>
            <a:ext cx="6412230" cy="5737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97707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Тело класса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79090"/>
            <a:ext cx="11388725" cy="776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AbsurdClass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 = 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 =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28269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docstring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969895"/>
            <a:ext cx="18007330" cy="7776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"""</a:t>
            </a: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Special object to validate dates.</a:t>
            </a: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Args:</a:t>
            </a: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DATE_FROMAT: valid date's format.</a:t>
            </a: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"""</a:t>
            </a: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28269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help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227070"/>
            <a:ext cx="18722975" cy="677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help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class DateValidator(builtins.object)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|  Special object to validate dates.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|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|  Args: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|      DATE_FROMAT: valid date's format.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...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0559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Атрибуты объекта-класса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15796895" cy="10330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"%Y-%m-%d"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__dict__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%Y-%m-%d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{..., 'DATE_FORMAT': '%Y-%m-%d', ...}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6051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Перепривязка атрибутов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65070"/>
            <a:ext cx="16456025" cy="939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"%Y-%m-%d"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%Y-%m-%d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"%d-%m-%Y"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%d-%m-%Y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0559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Методы объекта-класса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21132165" cy="9879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"%Y-%m-%d"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staticmethod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format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 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strptime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format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4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0559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Методы объекта-класса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317875"/>
            <a:ext cx="22045295" cy="7675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"2025-11-22"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"2025-42-69"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"22-11-2025"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"%d-%m-%Y"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99731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classmethod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16538575" cy="9879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"%Y-%m-%d"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classmethod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cls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strptime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cls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DATE_FORMAT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4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74839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classmethod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16538575" cy="9879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 </a:t>
            </a: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 </a:t>
            </a: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class DateValidator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Final[str]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rgbClr val="E3C496"/>
                </a:solidFill>
                <a:latin typeface="Consolas" panose="020B0609020204030204" charset="0"/>
                <a:cs typeface="Consolas" panose="020B0609020204030204" charset="0"/>
              </a:rPr>
              <a:t>"%Y-%m-%d"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classmethod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cls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date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str)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datetime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strptime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date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cls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DATE_FORMAT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altLang="ru-RU" sz="4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4400">
              <a:solidFill>
                <a:schemeClr val="accent1">
                  <a:lumMod val="20000"/>
                  <a:lumOff val="8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8554720" y="4769485"/>
            <a:ext cx="8785225" cy="21602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 flipH="1">
            <a:off x="12659360" y="4769485"/>
            <a:ext cx="4680585" cy="34563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13955395" y="3185160"/>
            <a:ext cx="707961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данный объект-класс</a:t>
            </a:r>
            <a:endParaRPr lang="ru-RU" altLang="ru-RU" sz="4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algn="ctr"/>
            <a:r>
              <a:rPr lang="ru-RU" altLang="ru-RU" sz="4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передается неявно</a:t>
            </a:r>
            <a:endParaRPr lang="ru-RU" altLang="ru-RU" sz="4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5794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classmethod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4265295"/>
            <a:ext cx="22045295" cy="6039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"2025-11-22"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is_valid_date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"2025-42-69"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66011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Объект-класса и переменные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50265" y="2177415"/>
            <a:ext cx="15271115" cy="1014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"%Y-%m-%d"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&lt;class '__main__.DateValidator'&gt;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&lt;class '__main__.DateValidator'&gt;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7699990" y="7002145"/>
            <a:ext cx="2245360" cy="216027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class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>
            <a:off x="9058910" y="7649845"/>
            <a:ext cx="748855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9058910" y="8514080"/>
            <a:ext cx="748855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7577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Объект-класса и коллекции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50265" y="2681605"/>
            <a:ext cx="20794345" cy="892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"%Y-%m-%d"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date_format_to_validator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date_format_to_validator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{'%Y-%m-%d': &lt;class '__main__.DateValidator'&gt;}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28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Объект-класса как аргумент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50265" y="2969260"/>
            <a:ext cx="19224625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print_class_obj_info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"class obj ID: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"class obj name: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print_class_obj_info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class obj ID: 2236970524576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class obj name: DateValidator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28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Динамическое создание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50265" y="2825115"/>
            <a:ext cx="19601180" cy="9177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create_date_validator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DateValidator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date_validator_dtype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create_date_validator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date_validator_dtype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&lt;class '...DateValidator'&gt;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Экземпляры классов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Группа 5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8" name="Овал 7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10" name="Овал 9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81926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26385"/>
            <a:ext cx="9686925" cy="8792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0.0, 0.0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1939270" y="5129530"/>
            <a:ext cx="9688830" cy="3131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en-US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Как создать несколько точек с разными координатами?</a:t>
            </a:r>
            <a:endParaRPr lang="ru-RU" altLang="en-US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60297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Экземпляры классов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77415"/>
            <a:ext cx="11577955" cy="9917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45043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Экземпляр и объект-класса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689350"/>
            <a:ext cx="11577955" cy="690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4315440" y="3185160"/>
            <a:ext cx="2245360" cy="216027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class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4315440" y="8658225"/>
            <a:ext cx="2245360" cy="21602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inst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7546975" y="4265295"/>
            <a:ext cx="583247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7546975" y="9738360"/>
            <a:ext cx="583247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Текстовое поле 10"/>
          <p:cNvSpPr txBox="1"/>
          <p:nvPr/>
        </p:nvSpPr>
        <p:spPr>
          <a:xfrm>
            <a:off x="19284315" y="3734435"/>
            <a:ext cx="4015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__dict__</a:t>
            </a:r>
            <a:endParaRPr lang="en-US" altLang="ru-RU" sz="60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9284315" y="9230995"/>
            <a:ext cx="4015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__dict__</a:t>
            </a:r>
            <a:endParaRPr lang="en-US" altLang="ru-RU" sz="60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17555845" y="4265295"/>
            <a:ext cx="129603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17496790" y="9738360"/>
            <a:ext cx="129603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15467330" y="5850255"/>
            <a:ext cx="0" cy="23037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Текстовое поле 15"/>
          <p:cNvSpPr txBox="1"/>
          <p:nvPr/>
        </p:nvSpPr>
        <p:spPr>
          <a:xfrm rot="10800000">
            <a:off x="20739100" y="5345430"/>
            <a:ext cx="1106170" cy="35426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 not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5" grpId="1" animBg="1"/>
      <p:bldP spid="7" grpId="1" animBg="1"/>
      <p:bldP spid="12" grpId="0"/>
      <p:bldP spid="11" grpId="0"/>
      <p:bldP spid="12" grpId="1"/>
      <p:bldP spid="11" grpId="1"/>
      <p:bldP spid="16" grpId="0"/>
      <p:bldP spid="1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60297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Решение проблемы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77415"/>
            <a:ext cx="19168745" cy="9917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0.0, 0.0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", 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3.14, 0.0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41121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Конструктор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21560"/>
            <a:ext cx="12782550" cy="9419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endParaRPr lang="en-US" altLang="ru-RU" sz="54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41121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Конструктор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21560"/>
            <a:ext cx="12782550" cy="9419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class Point2D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ru-RU" altLang="en-US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5400">
                <a:solidFill>
                  <a:srgbClr val="DBE8DE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ru-RU" altLang="en-US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5400">
                <a:solidFill>
                  <a:srgbClr val="DBE8DE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ordinate 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endParaRPr lang="en-US" altLang="ru-RU" sz="5400">
              <a:solidFill>
                <a:srgbClr val="BCD6FD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6538595" y="6929755"/>
            <a:ext cx="727265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13883640" y="5993765"/>
            <a:ext cx="87496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данный экземпляр передается неявно</a:t>
            </a:r>
            <a:endParaRPr lang="ru-RU" altLang="en-US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6682740" y="6929755"/>
            <a:ext cx="7128510" cy="26644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6754495" y="6929755"/>
            <a:ext cx="7056755" cy="36004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58086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 конструктора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268345"/>
            <a:ext cx="19999325" cy="8472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-2.72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1337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"point1: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"point2: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point1: 3.14, -2.72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point2: 42, 1337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746480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return </a:t>
            </a:r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в конструкторе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18626455" cy="10250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-2.72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__init__() should return None, not 'Point2D'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1804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Атрибуты классов и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экземпляров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50265" y="2105025"/>
            <a:ext cx="13771880" cy="1033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 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"abscissa"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__dict__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0.0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1804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Атрибуты классов и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экземпляров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50265" y="2105025"/>
            <a:ext cx="13771880" cy="1033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 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1804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Атрибуты классов и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экземпляров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50265" y="2105025"/>
            <a:ext cx="13771880" cy="1033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ordinate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0.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 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"abscissa"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__dict__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point1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abscissa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3.14</a:t>
            </a:r>
            <a:endParaRPr lang="en-US" altLang="ru-RU" sz="4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4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4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723709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Следствие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1961515"/>
            <a:ext cx="13984605" cy="1038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Accumulator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[]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obj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append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(obj)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inst1 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Accumulator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[3.14]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inst2 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Accumulator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inst2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[3.14, 42]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4605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Динамическое создание атрибутов 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074545"/>
            <a:ext cx="15792450" cy="1036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__init__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ordinate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</a:t>
            </a:r>
            <a:endParaRPr lang="en-US" altLang="ru-RU" sz="48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None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abscissa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ordinate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ordinate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Point2D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3.14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-2.72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applique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"instance: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applique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"class: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applique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instance: 42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class: 42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4605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Динамическое создание атрибутов 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074545"/>
            <a:ext cx="22232620" cy="10360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__init__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ordinate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</a:t>
            </a:r>
            <a:endParaRPr lang="en-US" altLang="ru-RU" sz="48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None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abscissa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abscissa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ordinate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ordinate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Point2D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3.14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-2.72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applique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"instance: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point1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applique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"class: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Point2D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applique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instance: 42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AttributeError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 type object 'Point2D' has no attribute 'applique'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59154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Методы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экземпляров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25115"/>
            <a:ext cx="15620365" cy="8308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print_message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 world!"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 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print_message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print_message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 world!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 world!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43848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Обращения к атрибутам в методах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17594580" cy="10043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[]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add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append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add_twice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add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add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8352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Обращения к атрибутам в методах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329305"/>
            <a:ext cx="8224520" cy="7818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add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[3.14]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add_twice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[3.14, 42, 42]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8352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Соглашения об именах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22139910" cy="10175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"Mike"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_name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Mike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Mike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AttributeError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'MyClass' object has no attribute '__name'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8352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Соглашения об именах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22139910" cy="930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"Mike"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_name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inst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_MyClass__name</a:t>
            </a:r>
            <a:r>
              <a:rPr lang="en-US" altLang="ru-RU" sz="5400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Mike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Mike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Mike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l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Семинар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simple-light-2">
  <a:themeElements>
    <a:clrScheme name="МФТИ">
      <a:dk1>
        <a:srgbClr val="525252"/>
      </a:dk1>
      <a:lt1>
        <a:srgbClr val="FFFFFF"/>
      </a:lt1>
      <a:dk2>
        <a:srgbClr val="525252"/>
      </a:dk2>
      <a:lt2>
        <a:srgbClr val="FFFFFF"/>
      </a:lt2>
      <a:accent1>
        <a:srgbClr val="0072BC"/>
      </a:accent1>
      <a:accent2>
        <a:srgbClr val="525252"/>
      </a:accent2>
      <a:accent3>
        <a:srgbClr val="7C7C7C"/>
      </a:accent3>
      <a:accent4>
        <a:srgbClr val="FFAB40"/>
      </a:accent4>
      <a:accent5>
        <a:srgbClr val="0072BC"/>
      </a:accent5>
      <a:accent6>
        <a:srgbClr val="525252"/>
      </a:accent6>
      <a:hlink>
        <a:srgbClr val="FFAB40"/>
      </a:hlink>
      <a:folHlink>
        <a:srgbClr val="92C5EB"/>
      </a:folHlink>
    </a:clrScheme>
    <a:fontScheme name="МФТИ">
      <a:majorFont>
        <a:latin typeface="Arial Blac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8228</Words>
  <Application>WPS Presentation</Application>
  <PresentationFormat>Произвольный</PresentationFormat>
  <Paragraphs>606</Paragraphs>
  <Slides>40</Slides>
  <Notes>10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2" baseType="lpstr">
      <vt:lpstr>Arial</vt:lpstr>
      <vt:lpstr>SimSun</vt:lpstr>
      <vt:lpstr>Wingdings</vt:lpstr>
      <vt:lpstr>Arial</vt:lpstr>
      <vt:lpstr>Segoe UI</vt:lpstr>
      <vt:lpstr>Arial Black</vt:lpstr>
      <vt:lpstr>Tahoma</vt:lpstr>
      <vt:lpstr>Franklin Gothic Book</vt:lpstr>
      <vt:lpstr>Consolas</vt:lpstr>
      <vt:lpstr>Microsoft YaHei</vt:lpstr>
      <vt:lpstr>Arial Unicode MS</vt:lpstr>
      <vt:lpstr>simple-light-2</vt:lpstr>
      <vt:lpstr>Классы</vt:lpstr>
      <vt:lpstr>Объекты классов</vt:lpstr>
      <vt:lpstr>Пользовательские классы</vt:lpstr>
      <vt:lpstr>Объект класса</vt:lpstr>
      <vt:lpstr>Объект-класс</vt:lpstr>
      <vt:lpstr>Тело класса</vt:lpstr>
      <vt:lpstr>__doc__</vt:lpstr>
      <vt:lpstr>docstring</vt:lpstr>
      <vt:lpstr>Тело класса</vt:lpstr>
      <vt:lpstr>Атрибуты объекта-класса</vt:lpstr>
      <vt:lpstr>Атрибуты объекта-класса</vt:lpstr>
      <vt:lpstr>Методы объекта-класса</vt:lpstr>
      <vt:lpstr>Методы объекта-класса</vt:lpstr>
      <vt:lpstr>classmethod</vt:lpstr>
      <vt:lpstr>Методы объекта-класса</vt:lpstr>
      <vt:lpstr>classmethod</vt:lpstr>
      <vt:lpstr>Объект-класса как аргумент</vt:lpstr>
      <vt:lpstr>Объект-класса и переменные</vt:lpstr>
      <vt:lpstr>Объект-класса как аргумент</vt:lpstr>
      <vt:lpstr>Экземпляры классов</vt:lpstr>
      <vt:lpstr>Экземпляры классов</vt:lpstr>
      <vt:lpstr>__init__</vt:lpstr>
      <vt:lpstr>Экземпляры классов</vt:lpstr>
      <vt:lpstr>Экземпляры классов</vt:lpstr>
      <vt:lpstr>__init__</vt:lpstr>
      <vt:lpstr>Конструктор</vt:lpstr>
      <vt:lpstr>Конструктор</vt:lpstr>
      <vt:lpstr>Использование конструктора</vt:lpstr>
      <vt:lpstr>Поиск атрибутов</vt:lpstr>
      <vt:lpstr>Атрибуты классов и экземпляров</vt:lpstr>
      <vt:lpstr>Атрибуты классов и экземпляров</vt:lpstr>
      <vt:lpstr>Изменяемые атрибуты объектов класса</vt:lpstr>
      <vt:lpstr>Динамическое создание атрибутов </vt:lpstr>
      <vt:lpstr>Динамическое создание атрибутов </vt:lpstr>
      <vt:lpstr>Методы</vt:lpstr>
      <vt:lpstr>Обращения к атрибутам в методах</vt:lpstr>
      <vt:lpstr>Обращения к атрибутам в методах</vt:lpstr>
      <vt:lpstr>Публичные и служебные атрибуты</vt:lpstr>
      <vt:lpstr>Соглашения об именах</vt:lpstr>
      <vt:lpstr>Семинар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MIPT / Phystech</dc:title>
  <dc:creator>Marina</dc:creator>
  <cp:lastModifiedBy>Michail Evgrafov</cp:lastModifiedBy>
  <cp:revision>696</cp:revision>
  <dcterms:created xsi:type="dcterms:W3CDTF">2023-09-07T15:23:00Z</dcterms:created>
  <dcterms:modified xsi:type="dcterms:W3CDTF">2025-11-21T22:32:42Z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939A7A65A70D42D3AFBDFCFAB1B7D962_12</vt:lpwstr>
  </property>
  <property fmtid="{D5CDD505-2E9C-101B-9397-08002B2CF9AE}" pid="3" name="KSOProductBuildVer">
    <vt:lpwstr>1049-12.2.0.23155</vt:lpwstr>
  </property>
</Properties>
</file>